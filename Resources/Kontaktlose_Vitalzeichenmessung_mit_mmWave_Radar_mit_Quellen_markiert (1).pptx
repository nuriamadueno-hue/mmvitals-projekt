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0"/>
  </p:notesMasterIdLst>
  <p:sldIdLst>
    <p:sldId id="277" r:id="rId3"/>
    <p:sldId id="256" r:id="rId4"/>
    <p:sldId id="257" r:id="rId5"/>
    <p:sldId id="279" r:id="rId6"/>
    <p:sldId id="280" r:id="rId7"/>
    <p:sldId id="271" r:id="rId8"/>
    <p:sldId id="258" r:id="rId9"/>
    <p:sldId id="259" r:id="rId10"/>
    <p:sldId id="282" r:id="rId11"/>
    <p:sldId id="260" r:id="rId12"/>
    <p:sldId id="261" r:id="rId13"/>
    <p:sldId id="262" r:id="rId14"/>
    <p:sldId id="283" r:id="rId15"/>
    <p:sldId id="264" r:id="rId16"/>
    <p:sldId id="263" r:id="rId17"/>
    <p:sldId id="265" r:id="rId18"/>
    <p:sldId id="281" r:id="rId19"/>
    <p:sldId id="266" r:id="rId20"/>
    <p:sldId id="272" r:id="rId21"/>
    <p:sldId id="267" r:id="rId22"/>
    <p:sldId id="268" r:id="rId23"/>
    <p:sldId id="269" r:id="rId24"/>
    <p:sldId id="284" r:id="rId25"/>
    <p:sldId id="270" r:id="rId26"/>
    <p:sldId id="275" r:id="rId27"/>
    <p:sldId id="273" r:id="rId28"/>
    <p:sldId id="274" r:id="rId2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BF31E-F5B4-4D17-9888-8F5C95E82B5F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AE25F-19C2-4156-9E02-B4BE744ED2B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644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Wir können das hier löschen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911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MUSTER FOLIE: Alles sollte in so einem Format sein, alle Abbildungen sollten </a:t>
            </a:r>
            <a:r>
              <a:rPr lang="de-DE" dirty="0" err="1"/>
              <a:t>numeriert</a:t>
            </a:r>
            <a:r>
              <a:rPr lang="de-DE" dirty="0"/>
              <a:t> sein und wenn möglich auch die Quelle </a:t>
            </a:r>
            <a:r>
              <a:rPr lang="de-DE" dirty="0" err="1"/>
              <a:t>bennant</a:t>
            </a:r>
            <a:r>
              <a:rPr lang="de-DE" dirty="0"/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8988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Folie 4 und 5 sind dasselbe, bitte benutzt die Struktur von Folie 5 und die Abbildungen von Folie 4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325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Folie gefällt mir nicht, es gibt viel zu viel Text. </a:t>
            </a:r>
            <a:r>
              <a:rPr lang="de-DE" dirty="0" err="1"/>
              <a:t>Lies</a:t>
            </a:r>
            <a:r>
              <a:rPr lang="de-DE" dirty="0"/>
              <a:t> das Detail in dem READ ME PRÄSENTATION Dokument in GitHub und sieht ob du mit etwas besseres kommen kannst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201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Folie ist neu. Es ist sehr wichtig hier wird es Schritt für Schritt erklärt wie sind wir von Punkt A auf B gekommen, und weiter diese Filtern, die der Professor möchte, erklären. Hier können die Bilder viel größer sein vielleicht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6814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 viel Text hier brauchen wir unbedingt Abbildungen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99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bisschen kürzer </a:t>
            </a:r>
            <a:r>
              <a:rPr lang="de-DE" dirty="0" err="1"/>
              <a:t>vielliecht</a:t>
            </a:r>
            <a:r>
              <a:rPr lang="de-DE" dirty="0"/>
              <a:t>? Bitte nimmt dir die Freiheit neue Plots zu erstellen alles ist aktualisiert in </a:t>
            </a:r>
            <a:r>
              <a:rPr lang="de-DE" dirty="0" err="1"/>
              <a:t>Github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229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Mehr </a:t>
            </a:r>
            <a:r>
              <a:rPr lang="de-DE" dirty="0" err="1"/>
              <a:t>abbildungen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DAE25F-19C2-4156-9E02-B4BE744ED2B3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84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B38EAF-905B-4E26-D3BA-7876DB80E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069099-E4F9-9AE4-E070-1381EC025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80D187-1CAD-D88E-E780-3AABDB6C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1F3BB7-A87B-2F4F-150F-CE2543A7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6255AA-9239-109B-D56F-962845E12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8587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D56B2-B14B-040B-78BA-5B26B00F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CDDF350-956F-1087-AF8E-184A8F003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D82478-E8F7-F29E-523B-C367F44F1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088DA4-64C3-8992-6A9E-1D81CD30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1EE56D-E55E-92BB-5A04-859EC5AE7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89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F16B23-38B7-FD13-9D4F-F2A857853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920D28-0101-8911-C6B5-3020EFB62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8A1F20-C591-590D-DD1E-C482D2E0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7B6B2A-4AB1-34F0-DA2C-76454301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250C85-7321-DA3C-2E04-B66886DC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086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EC606-3C64-3B02-5BFE-941F408C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411019-22D9-4FAB-235B-35F5A908C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1547EC-B250-FA79-80F0-D23207C28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FD81C6-5DCA-7616-675A-8745F4E7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7228D71-AC23-22FA-0035-37372FB2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826BFF-EDF9-453A-00F1-051D09562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248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2CC03D-8D7A-DBDC-6F69-33C4E741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6C98EC-8537-0282-284C-5D436DA85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664726-91D9-5BD9-241B-730CDE2FF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4732E6E-4F43-422C-B732-364C39652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38B286B-0794-816B-9013-93D3E95E71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AE71A7D-74CE-A565-F097-4F6D9F1C5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41CBE9A-120C-1CD6-6ABF-F45591AEC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186E10-BFC4-56B7-B492-99FBB416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578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11575A-2ABE-408C-D41F-6E567E05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AE3A049-EA11-99AC-5167-EA8E0086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3C3F0B-AB87-9D99-11B2-A3E4F7E9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1176DA-6111-FAA0-84AD-84AF089F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7458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B9046D-2920-083A-D4DA-58D50757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9805741-6863-760E-C95F-38719B229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C478AC-552F-9895-A4AE-8D708DAE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4270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179D5-CCB2-7CEF-9022-8D6F1033E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138CC1-1479-BF79-7A00-28DADD9F6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BF6DB6-CC19-40C2-EA2B-7A4F0C1DB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0B850F-A05A-25D8-6F99-3B698CE1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55FE39-CB70-57BF-AC83-60B82F32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D72EAF-17B9-2013-5FD9-8104BACE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457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894F5-D28C-4E59-BC0A-05FD64E0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077E404-2583-0AEE-4589-D9D73CE831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062CC3-6D54-84CE-6B86-7A343CC0C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58C1F3-3295-5673-A65E-8DBA0C95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1F6C206-A9F5-9B2E-7B57-072969F82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C3BEE1-8255-D6F7-8A0F-9698B5B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44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EA3BF-8010-8E01-F94A-04D87E54D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0E45BD-F7A3-07C0-A6CF-664669F75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3556F6-BBA6-BF64-EDC6-618E533F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A0CC33-0F31-88CF-8512-3FCC57B9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99E3B8-AD13-0C67-6B7D-224D9C82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853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58962F2-624B-5CDE-FCA1-EABFC19C3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A056A4-07F6-09F0-26AA-146EB8D66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8A9229-FFFD-550B-B20B-76561409E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1921D9-AEE5-4AAD-2BDB-C1F20866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52BC53-35C4-8F92-4E2F-D49D9916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773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037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6515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5672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37540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646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71018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87509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66339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0941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5088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536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04855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49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776BAF5-EE78-A668-F6F4-2F07D1B4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B6A11B-E44D-0494-7436-117F59380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D77DE-CABE-78E9-5B50-0FC6217D6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6445A8-17FF-460E-AE8B-73F52B1373E6}" type="datetimeFigureOut">
              <a:rPr lang="de-DE" smtClean="0"/>
              <a:t>07.07.2026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47780C-1506-C1C1-DFAC-298BC183C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BDCBE3-8662-FE2D-1785-CDB0F2F26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BD02F-F259-41F8-ABDC-C5C373099A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843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820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B2B3F8-5C18-C16B-C5D1-F87046DBECB5}"/>
              </a:ext>
            </a:extLst>
          </p:cNvPr>
          <p:cNvSpPr txBox="1"/>
          <p:nvPr/>
        </p:nvSpPr>
        <p:spPr>
          <a:xfrm>
            <a:off x="1" y="193072"/>
            <a:ext cx="523951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Kontaktlose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Messung von</a:t>
            </a:r>
            <a:r>
              <a:rPr lang="en-US" sz="3400" dirty="0">
                <a:solidFill>
                  <a:prstClr val="black"/>
                </a:solidFill>
                <a:latin typeface="Apto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Herz- und </a:t>
            </a: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Atemfrequenz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kumimoji="0" lang="en-US" sz="3400" b="1" i="0" u="none" strike="noStrike" kern="1200" cap="none" spc="0" normalizeH="0" baseline="0" noProof="0" dirty="0" err="1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mmWave</a:t>
            </a: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7FBFF"/>
                </a:solidFill>
                <a:effectLst/>
                <a:uLnTx/>
                <a:uFillTx/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-Radar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2833D-B74E-A1D3-8CC1-B361EB24884B}"/>
              </a:ext>
            </a:extLst>
          </p:cNvPr>
          <p:cNvSpPr txBox="1"/>
          <p:nvPr/>
        </p:nvSpPr>
        <p:spPr>
          <a:xfrm>
            <a:off x="74593" y="3105834"/>
            <a:ext cx="60951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N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uria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Calibri" panose="020F0502020204030204"/>
              </a:rPr>
              <a:t>M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adueno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Morales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Fatemeh Aboulhassani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Chimeh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D5A54-7D75-EE96-7AF0-BC18A5C64DA6}"/>
              </a:ext>
            </a:extLst>
          </p:cNvPr>
          <p:cNvSpPr/>
          <p:nvPr/>
        </p:nvSpPr>
        <p:spPr>
          <a:xfrm>
            <a:off x="8957241" y="964097"/>
            <a:ext cx="1327356" cy="3677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979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C880B2E6-4F46-950D-007E-8C4A87356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287" y="965064"/>
            <a:ext cx="9144000" cy="545966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Python-basierte Analyse von </a:t>
            </a:r>
            <a:r>
              <a:rPr lang="de-DE" dirty="0" err="1"/>
              <a:t>mmWave</a:t>
            </a:r>
            <a:r>
              <a:rPr lang="de-DE" dirty="0"/>
              <a:t>-Radardaten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Radarkonfiguration und Datenerfassung als notwendige Grundlage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Eigener Hauptbeitrag: Verarbeitungskette von Rohdaten zu Vitalzeichen-Schätzungen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>
                <a:solidFill>
                  <a:srgbClr val="156082"/>
                </a:solidFill>
              </a:rPr>
              <a:t>Kontaktlose Schätzung von Atemfrequenz und Herzfrequenz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969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975C49-5326-A839-596E-37964BE7E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5E8990-C6DF-972F-147F-DDA2ABA50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2620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2000" b="1" dirty="0"/>
              <a:t>Warum ist kontaktlose Vitalzeichenmessung relevant?</a:t>
            </a:r>
          </a:p>
          <a:p>
            <a:pPr marL="0" indent="0">
              <a:buNone/>
            </a:pPr>
            <a:r>
              <a:rPr lang="de-DE" sz="2000" dirty="0"/>
              <a:t>Konventionelle Sensoren erfordern physischen Kontakt, der für bestimmte Patientengruppen unangenehm oder kontraindiziert ist.</a:t>
            </a:r>
          </a:p>
          <a:p>
            <a:r>
              <a:rPr lang="de-DE" sz="2000" dirty="0"/>
              <a:t>Klinische Anwendungsfälle: Brandverletzte, fragile Patienten, Schlafüberwachung und Isolationsräume.</a:t>
            </a:r>
          </a:p>
          <a:p>
            <a:r>
              <a:rPr lang="de-DE" sz="2000" dirty="0"/>
              <a:t>Ermöglicht eine passive Überwachung ohne am Körper angebrachte Sensoren.</a:t>
            </a:r>
          </a:p>
          <a:p>
            <a:r>
              <a:rPr lang="de-DE" sz="2000" dirty="0"/>
              <a:t>Potenzieller Einsatz als Frühwarnsystem in Warte- und Pflegebereichen.</a:t>
            </a:r>
          </a:p>
          <a:p>
            <a:r>
              <a:rPr lang="de-DE" sz="2000" dirty="0"/>
              <a:t>Auffällige Atem- oder Herzfrequenzmuster lassen sich frühzeitig erkennen, bevor eine sichtbare Verschlechterung eintritt.</a:t>
            </a:r>
          </a:p>
        </p:txBody>
      </p:sp>
      <p:pic>
        <p:nvPicPr>
          <p:cNvPr id="12" name="Motivbild Brandopfer"/>
          <p:cNvPicPr>
            <a:picLocks noChangeAspect="1"/>
          </p:cNvPicPr>
          <p:nvPr/>
        </p:nvPicPr>
        <p:blipFill>
          <a:blip r:embed="rId3"/>
          <a:srcRect t="7031" b="22949"/>
          <a:stretch>
            <a:fillRect/>
          </a:stretch>
        </p:blipFill>
        <p:spPr>
          <a:xfrm>
            <a:off x="838200" y="4230000"/>
            <a:ext cx="3318533" cy="1550000"/>
          </a:xfrm>
          <a:prstGeom prst="rect">
            <a:avLst/>
          </a:prstGeom>
        </p:spPr>
      </p:pic>
      <p:pic>
        <p:nvPicPr>
          <p:cNvPr id="10" name="Motivbild 1"/>
          <p:cNvPicPr>
            <a:picLocks noChangeAspect="1"/>
          </p:cNvPicPr>
          <p:nvPr/>
        </p:nvPicPr>
        <p:blipFill>
          <a:blip r:embed="rId4"/>
          <a:srcRect t="11914" b="18066"/>
          <a:stretch>
            <a:fillRect/>
          </a:stretch>
        </p:blipFill>
        <p:spPr>
          <a:xfrm>
            <a:off x="4436733" y="4230000"/>
            <a:ext cx="3318533" cy="1550000"/>
          </a:xfrm>
          <a:prstGeom prst="rect">
            <a:avLst/>
          </a:prstGeom>
        </p:spPr>
      </p:pic>
      <p:pic>
        <p:nvPicPr>
          <p:cNvPr id="11" name="Motivbild 2"/>
          <p:cNvPicPr>
            <a:picLocks noChangeAspect="1"/>
          </p:cNvPicPr>
          <p:nvPr/>
        </p:nvPicPr>
        <p:blipFill>
          <a:blip r:embed="rId5"/>
          <a:srcRect t="8789" b="21191"/>
          <a:stretch>
            <a:fillRect/>
          </a:stretch>
        </p:blipFill>
        <p:spPr>
          <a:xfrm>
            <a:off x="8035266" y="4230000"/>
            <a:ext cx="3318533" cy="1550000"/>
          </a:xfrm>
          <a:prstGeom prst="rect">
            <a:avLst/>
          </a:prstGeom>
        </p:spPr>
      </p:pic>
      <p:sp>
        <p:nvSpPr>
          <p:cNvPr id="20" name="Bildunterschrift 1"/>
          <p:cNvSpPr txBox="1"/>
          <p:nvPr/>
        </p:nvSpPr>
        <p:spPr>
          <a:xfrm>
            <a:off x="838200" y="5810000"/>
            <a:ext cx="3318533" cy="360000"/>
          </a:xfrm>
          <a:prstGeom prst="rect">
            <a:avLst/>
          </a:prstGeom>
        </p:spPr>
        <p:txBody>
          <a:bodyPr wrap="square" lIns="18000" tIns="9000" rIns="18000" bIns="9000">
            <a:normAutofit/>
          </a:bodyPr>
          <a:lstStyle/>
          <a:p>
            <a:pPr algn="ctr"/>
            <a:r>
              <a:rPr lang="de-DE" sz="1000" b="1" i="1">
                <a:solidFill>
                  <a:srgbClr val="404040"/>
                </a:solidFill>
              </a:rPr>
              <a:t>Abb. 1: </a:t>
            </a:r>
            <a:r>
              <a:rPr lang="de-DE" sz="1000" i="1">
                <a:solidFill>
                  <a:srgbClr val="404040"/>
                </a:solidFill>
              </a:rPr>
              <a:t>Brandverletzte – Kontakt oft nicht möglich</a:t>
            </a:r>
          </a:p>
        </p:txBody>
      </p:sp>
      <p:sp>
        <p:nvSpPr>
          <p:cNvPr id="21" name="Bildunterschrift 2"/>
          <p:cNvSpPr txBox="1"/>
          <p:nvPr/>
        </p:nvSpPr>
        <p:spPr>
          <a:xfrm>
            <a:off x="4436733" y="5810000"/>
            <a:ext cx="3318533" cy="360000"/>
          </a:xfrm>
          <a:prstGeom prst="rect">
            <a:avLst/>
          </a:prstGeom>
        </p:spPr>
        <p:txBody>
          <a:bodyPr wrap="square" lIns="18000" tIns="9000" rIns="18000" bIns="9000">
            <a:normAutofit/>
          </a:bodyPr>
          <a:lstStyle/>
          <a:p>
            <a:pPr algn="ctr"/>
            <a:r>
              <a:rPr lang="de-DE" sz="1000" b="1" i="1">
                <a:solidFill>
                  <a:srgbClr val="404040"/>
                </a:solidFill>
              </a:rPr>
              <a:t>Abb. 2: </a:t>
            </a:r>
            <a:r>
              <a:rPr lang="de-DE" sz="1000" i="1">
                <a:solidFill>
                  <a:srgbClr val="404040"/>
                </a:solidFill>
              </a:rPr>
              <a:t>Fragile Patienten und Schlafüberwachung</a:t>
            </a:r>
          </a:p>
        </p:txBody>
      </p:sp>
      <p:sp>
        <p:nvSpPr>
          <p:cNvPr id="22" name="Bildunterschrift 3"/>
          <p:cNvSpPr txBox="1"/>
          <p:nvPr/>
        </p:nvSpPr>
        <p:spPr>
          <a:xfrm>
            <a:off x="8035266" y="5810000"/>
            <a:ext cx="3318533" cy="360000"/>
          </a:xfrm>
          <a:prstGeom prst="rect">
            <a:avLst/>
          </a:prstGeom>
        </p:spPr>
        <p:txBody>
          <a:bodyPr wrap="square" lIns="18000" tIns="9000" rIns="18000" bIns="9000">
            <a:normAutofit/>
          </a:bodyPr>
          <a:lstStyle/>
          <a:p>
            <a:pPr algn="ctr"/>
            <a:r>
              <a:rPr lang="de-DE" sz="1000" b="1" i="1">
                <a:solidFill>
                  <a:srgbClr val="404040"/>
                </a:solidFill>
              </a:rPr>
              <a:t>Abb. 3: </a:t>
            </a:r>
            <a:r>
              <a:rPr lang="de-DE" sz="1000" i="1">
                <a:solidFill>
                  <a:srgbClr val="404040"/>
                </a:solidFill>
              </a:rPr>
              <a:t>mmWave-Radar zur kontaktlosen Messung</a:t>
            </a:r>
          </a:p>
        </p:txBody>
      </p:sp>
    </p:spTree>
    <p:extLst>
      <p:ext uri="{BB962C8B-B14F-4D97-AF65-F5344CB8AC3E}">
        <p14:creationId xmlns:p14="http://schemas.microsoft.com/office/powerpoint/2010/main" val="2957115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3DC75-17B9-785E-3ACB-56637419A0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198140" y="1282"/>
            <a:ext cx="12191980" cy="68567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9FD4DE-6116-9795-1765-EA79F6D28C20}"/>
              </a:ext>
            </a:extLst>
          </p:cNvPr>
          <p:cNvSpPr txBox="1"/>
          <p:nvPr/>
        </p:nvSpPr>
        <p:spPr>
          <a:xfrm>
            <a:off x="5388251" y="6489376"/>
            <a:ext cx="60951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800" dirty="0"/>
              <a:t>Folie </a:t>
            </a:r>
            <a:r>
              <a:rPr lang="fa-IR" sz="800" dirty="0"/>
              <a:t>3</a:t>
            </a:r>
            <a:r>
              <a:rPr lang="en-US" sz="800" dirty="0"/>
              <a:t> / 2</a:t>
            </a:r>
            <a:r>
              <a:rPr lang="fa-IR" sz="800" dirty="0"/>
              <a:t>2</a:t>
            </a:r>
            <a:endParaRPr lang="en-US" sz="8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73ACBC1-FB2F-89EE-7F28-CF484862C587}"/>
              </a:ext>
            </a:extLst>
          </p:cNvPr>
          <p:cNvSpPr txBox="1"/>
          <p:nvPr/>
        </p:nvSpPr>
        <p:spPr>
          <a:xfrm>
            <a:off x="6882580" y="1212171"/>
            <a:ext cx="1514167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de-DE" dirty="0" err="1">
                <a:solidFill>
                  <a:schemeClr val="bg1"/>
                </a:solidFill>
              </a:rPr>
              <a:t>mmWave</a:t>
            </a:r>
            <a:r>
              <a:rPr lang="de-DE" dirty="0">
                <a:solidFill>
                  <a:schemeClr val="bg1"/>
                </a:solidFill>
              </a:rPr>
              <a:t> Studio</a:t>
            </a:r>
          </a:p>
        </p:txBody>
      </p:sp>
    </p:spTree>
    <p:extLst>
      <p:ext uri="{BB962C8B-B14F-4D97-AF65-F5344CB8AC3E}">
        <p14:creationId xmlns:p14="http://schemas.microsoft.com/office/powerpoint/2010/main" val="167006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09200" y="251656"/>
            <a:ext cx="10515600" cy="1325563"/>
          </a:xfrm>
        </p:spPr>
        <p:txBody>
          <a:bodyPr/>
          <a:lstStyle/>
          <a:p>
            <a:r>
              <a:rPr lang="de-DE" dirty="0"/>
              <a:t>Backup 1: Datenerfassungs-Pipeline</a:t>
            </a:r>
          </a:p>
        </p:txBody>
      </p:sp>
      <p:sp>
        <p:nvSpPr>
          <p:cNvPr id="3" name="Untertitel"/>
          <p:cNvSpPr txBox="1"/>
          <p:nvPr/>
        </p:nvSpPr>
        <p:spPr>
          <a:xfrm>
            <a:off x="460000" y="1330000"/>
            <a:ext cx="11272000" cy="45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de-DE" sz="1600" b="0">
                <a:solidFill>
                  <a:srgbClr val="156082"/>
                </a:solidFill>
              </a:rPr>
              <a:t>Vom Radar-IC bis zur Python-Verarbeitung</a:t>
            </a:r>
          </a:p>
        </p:txBody>
      </p:sp>
      <p:sp>
        <p:nvSpPr>
          <p:cNvPr id="10" name="Stufe 1"/>
          <p:cNvSpPr/>
          <p:nvPr/>
        </p:nvSpPr>
        <p:spPr>
          <a:xfrm>
            <a:off x="460000" y="2550000"/>
            <a:ext cx="2014400" cy="1500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de-DE" sz="1400" b="1">
                <a:solidFill>
                  <a:srgbClr val="FFFFFF"/>
                </a:solidFill>
              </a:rPr>
              <a:t>TI IWR1843</a:t>
            </a:r>
          </a:p>
          <a:p>
            <a:pPr algn="ctr"/>
            <a:r>
              <a:rPr lang="de-DE" sz="1000">
                <a:solidFill>
                  <a:srgbClr val="D6E7EE"/>
                </a:solidFill>
              </a:rPr>
              <a:t>Radar-IC als mmWave-Signalquelle</a:t>
            </a:r>
          </a:p>
        </p:txBody>
      </p:sp>
      <p:sp>
        <p:nvSpPr>
          <p:cNvPr id="11" name="Stufe 2"/>
          <p:cNvSpPr/>
          <p:nvPr/>
        </p:nvSpPr>
        <p:spPr>
          <a:xfrm>
            <a:off x="2774400" y="2550000"/>
            <a:ext cx="2014400" cy="1500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de-DE" sz="1400" b="1">
                <a:solidFill>
                  <a:srgbClr val="FFFFFF"/>
                </a:solidFill>
              </a:rPr>
              <a:t>DCA1000EVM</a:t>
            </a:r>
          </a:p>
          <a:p>
            <a:pPr algn="ctr"/>
            <a:r>
              <a:rPr lang="de-DE" sz="1000">
                <a:solidFill>
                  <a:srgbClr val="D6E7EE"/>
                </a:solidFill>
              </a:rPr>
              <a:t>Erfassungsplatine, LVDS-Rohdaten</a:t>
            </a:r>
          </a:p>
        </p:txBody>
      </p:sp>
      <p:sp>
        <p:nvSpPr>
          <p:cNvPr id="12" name="Stufe 3"/>
          <p:cNvSpPr/>
          <p:nvPr/>
        </p:nvSpPr>
        <p:spPr>
          <a:xfrm>
            <a:off x="5088800" y="2550000"/>
            <a:ext cx="2014400" cy="1500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de-DE" sz="1400" b="1">
                <a:solidFill>
                  <a:srgbClr val="FFFFFF"/>
                </a:solidFill>
              </a:rPr>
              <a:t>TI mmWave Studio</a:t>
            </a:r>
          </a:p>
          <a:p>
            <a:pPr algn="ctr"/>
            <a:r>
              <a:rPr lang="de-DE" sz="1000">
                <a:solidFill>
                  <a:srgbClr val="D6E7EE"/>
                </a:solidFill>
              </a:rPr>
              <a:t>Aufzeichnung der Messdaten</a:t>
            </a:r>
          </a:p>
        </p:txBody>
      </p:sp>
      <p:sp>
        <p:nvSpPr>
          <p:cNvPr id="13" name="Stufe 4"/>
          <p:cNvSpPr/>
          <p:nvPr/>
        </p:nvSpPr>
        <p:spPr>
          <a:xfrm>
            <a:off x="7403200" y="2550000"/>
            <a:ext cx="2014400" cy="1500000"/>
          </a:xfrm>
          <a:prstGeom prst="roundRect">
            <a:avLst>
              <a:gd name="adj" fmla="val 8000"/>
            </a:avLst>
          </a:prstGeom>
          <a:solidFill>
            <a:srgbClr val="E97132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de-DE" sz="1400" b="1">
                <a:solidFill>
                  <a:srgbClr val="FFFFFF"/>
                </a:solidFill>
              </a:rPr>
              <a:t>Roh-ADC-Daten</a:t>
            </a:r>
          </a:p>
          <a:p>
            <a:pPr algn="ctr"/>
            <a:r>
              <a:rPr lang="de-DE" sz="1000">
                <a:solidFill>
                  <a:srgbClr val="FCE3D6"/>
                </a:solidFill>
              </a:rPr>
              <a:t>Offline gespeichert für die Verarbeitung</a:t>
            </a:r>
          </a:p>
        </p:txBody>
      </p:sp>
      <p:sp>
        <p:nvSpPr>
          <p:cNvPr id="14" name="Stufe 5"/>
          <p:cNvSpPr/>
          <p:nvPr/>
        </p:nvSpPr>
        <p:spPr>
          <a:xfrm>
            <a:off x="9717600" y="2550000"/>
            <a:ext cx="2014400" cy="15000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de-DE" sz="1400" b="1">
                <a:solidFill>
                  <a:srgbClr val="FFFFFF"/>
                </a:solidFill>
              </a:rPr>
              <a:t>Python-Pipeline</a:t>
            </a:r>
          </a:p>
          <a:p>
            <a:pPr algn="ctr"/>
            <a:r>
              <a:rPr lang="de-DE" sz="1000">
                <a:solidFill>
                  <a:srgbClr val="C9D3DC"/>
                </a:solidFill>
              </a:rPr>
              <a:t>Rekonstruktion der Rohdaten</a:t>
            </a:r>
          </a:p>
        </p:txBody>
      </p:sp>
      <p:sp>
        <p:nvSpPr>
          <p:cNvPr id="20" name="Pfeil 1"/>
          <p:cNvSpPr/>
          <p:nvPr/>
        </p:nvSpPr>
        <p:spPr>
          <a:xfrm>
            <a:off x="2474400" y="3110000"/>
            <a:ext cx="300000" cy="38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Pfeil 2"/>
          <p:cNvSpPr/>
          <p:nvPr/>
        </p:nvSpPr>
        <p:spPr>
          <a:xfrm>
            <a:off x="4788800" y="3110000"/>
            <a:ext cx="300000" cy="38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" name="Pfeil 3"/>
          <p:cNvSpPr/>
          <p:nvPr/>
        </p:nvSpPr>
        <p:spPr>
          <a:xfrm>
            <a:off x="7103200" y="3110000"/>
            <a:ext cx="300000" cy="38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3" name="Pfeil 4"/>
          <p:cNvSpPr/>
          <p:nvPr/>
        </p:nvSpPr>
        <p:spPr>
          <a:xfrm>
            <a:off x="9417600" y="3110000"/>
            <a:ext cx="300000" cy="38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Konfig-Pfeil"/>
          <p:cNvSpPr/>
          <p:nvPr/>
        </p:nvSpPr>
        <p:spPr>
          <a:xfrm>
            <a:off x="10584800" y="4090000"/>
            <a:ext cx="280000" cy="620000"/>
          </a:xfrm>
          <a:prstGeom prst="upArrow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1" name="Konfig-Box"/>
          <p:cNvSpPr/>
          <p:nvPr/>
        </p:nvSpPr>
        <p:spPr>
          <a:xfrm>
            <a:off x="460000" y="4710000"/>
            <a:ext cx="11272000" cy="1150000"/>
          </a:xfrm>
          <a:prstGeom prst="roundRect">
            <a:avLst>
              <a:gd name="adj" fmla="val 6000"/>
            </a:avLst>
          </a:prstGeom>
          <a:solidFill>
            <a:srgbClr val="EDF3F5"/>
          </a:solidFill>
          <a:ln w="12700">
            <a:solidFill>
              <a:srgbClr val="156082"/>
            </a:solidFill>
          </a:ln>
        </p:spPr>
        <p:txBody>
          <a:bodyPr wrap="square" lIns="182880" tIns="45720" rIns="182880" bIns="45720" anchor="ctr">
            <a:normAutofit/>
          </a:bodyPr>
          <a:lstStyle/>
          <a:p>
            <a:pPr algn="ctr"/>
            <a:r>
              <a:rPr lang="de-DE" sz="1400" b="1">
                <a:solidFill>
                  <a:srgbClr val="156082"/>
                </a:solidFill>
              </a:rPr>
              <a:t>Konfigurationsdateien steuern die korrekte Rekonstruktion</a:t>
            </a:r>
          </a:p>
          <a:p>
            <a:pPr algn="ctr"/>
            <a:r>
              <a:rPr lang="de-DE" sz="1200">
                <a:solidFill>
                  <a:srgbClr val="0E2841"/>
                </a:solidFill>
              </a:rPr>
              <a:t>Frame-Timing  ·  Samples  ·  Chirps  ·  Empfangskanäle  ·  LVDS-Datenformat</a:t>
            </a:r>
          </a:p>
        </p:txBody>
      </p:sp>
    </p:spTree>
    <p:extLst>
      <p:ext uri="{BB962C8B-B14F-4D97-AF65-F5344CB8AC3E}">
        <p14:creationId xmlns:p14="http://schemas.microsoft.com/office/powerpoint/2010/main" val="39001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AB94E7-EB95-FB77-69D1-CB9D4A72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 1: Radarkonfiguration und Datenerfassung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57B416-57FD-5BEE-9228-BEFF5DDDA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Wie die Messdaten aufgezeichnet wurden</a:t>
            </a:r>
          </a:p>
          <a:p>
            <a:r>
              <a:rPr lang="de-DE" dirty="0"/>
              <a:t>Radardaten wurden mit TI </a:t>
            </a:r>
            <a:r>
              <a:rPr lang="de-DE" dirty="0" err="1"/>
              <a:t>mmWave</a:t>
            </a:r>
            <a:r>
              <a:rPr lang="de-DE" dirty="0"/>
              <a:t> Studio aufgezeichnet</a:t>
            </a:r>
          </a:p>
          <a:p>
            <a:r>
              <a:rPr lang="de-DE" dirty="0"/>
              <a:t>Verwendeter Radar-IC im Projekt: TI IWR1843</a:t>
            </a:r>
          </a:p>
          <a:p>
            <a:r>
              <a:rPr lang="de-DE" dirty="0"/>
              <a:t>Verwendete Datenerfassungsplatine: DCA1000EVM</a:t>
            </a:r>
          </a:p>
          <a:p>
            <a:r>
              <a:rPr lang="de-DE" dirty="0"/>
              <a:t>Rohe ADC-Daten wurden für Offline-Verarbeitung gespeichert</a:t>
            </a:r>
          </a:p>
          <a:p>
            <a:r>
              <a:rPr lang="de-DE" dirty="0"/>
              <a:t>Konfigurationsdateien definieren Frame-Timing, Samples, </a:t>
            </a:r>
            <a:r>
              <a:rPr lang="de-DE" dirty="0" err="1"/>
              <a:t>Chirps</a:t>
            </a:r>
            <a:r>
              <a:rPr lang="de-DE" dirty="0"/>
              <a:t>, Empfangskanäle und LVDS-Datenformat</a:t>
            </a:r>
          </a:p>
          <a:p>
            <a:r>
              <a:rPr lang="de-DE" dirty="0"/>
              <a:t>Die Python-Pipeline benötigt diese Konfiguration, um die Daten korrekt zu rekonstruieren</a:t>
            </a:r>
          </a:p>
        </p:txBody>
      </p:sp>
    </p:spTree>
    <p:extLst>
      <p:ext uri="{BB962C8B-B14F-4D97-AF65-F5344CB8AC3E}">
        <p14:creationId xmlns:p14="http://schemas.microsoft.com/office/powerpoint/2010/main" val="390016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366D3-5F82-AD46-7FAF-64E65DF8D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Radarprinzip für Vitalzeichenmessung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BFD0C3-3F37-FBE6-A2C6-A1B634875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335"/>
            <a:ext cx="10515600" cy="4672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dirty="0"/>
              <a:t>Von Abstandsmessung zu phasenbasierter Bewegungserfassung</a:t>
            </a:r>
          </a:p>
          <a:p>
            <a:pPr marL="0" indent="0">
              <a:buNone/>
            </a:pPr>
            <a:r>
              <a:rPr lang="de-DE" sz="2200" dirty="0"/>
              <a:t>1. Konventionelle Radarverarbeitung trennt Objekte nach Entfernung</a:t>
            </a:r>
          </a:p>
          <a:p>
            <a:pPr lvl="1"/>
            <a:r>
              <a:rPr lang="de-DE" sz="2200" dirty="0">
                <a:solidFill>
                  <a:srgbClr val="156082"/>
                </a:solidFill>
              </a:rPr>
              <a:t>Mit unserer </a:t>
            </a:r>
            <a:r>
              <a:rPr lang="de-DE" sz="2200" dirty="0" err="1">
                <a:solidFill>
                  <a:srgbClr val="156082"/>
                </a:solidFill>
              </a:rPr>
              <a:t>Chirp</a:t>
            </a:r>
            <a:r>
              <a:rPr lang="de-DE" sz="2200" dirty="0">
                <a:solidFill>
                  <a:srgbClr val="156082"/>
                </a:solidFill>
              </a:rPr>
              <a:t>-Einstellung beträgt die Entfernungsauflösung etwa 83 mm</a:t>
            </a:r>
          </a:p>
          <a:p>
            <a:pPr marL="0" indent="0">
              <a:buNone/>
            </a:pPr>
            <a:r>
              <a:rPr lang="de-DE" sz="2200" dirty="0"/>
              <a:t>2. Vitalzeichenmessung nutzt Phasenänderungen innerhalb des ausgewählten Entfernungsbereichs</a:t>
            </a:r>
          </a:p>
          <a:p>
            <a:pPr lvl="1"/>
            <a:r>
              <a:rPr lang="de-DE" sz="2200" dirty="0"/>
              <a:t>Bei der verwendeten Trägerfrequenz von 77 GHz entspricht ein vollständiger Phasenzyklus etwa 1,95 mm Round-Trip-Verschiebungsmehrdeutigkeit</a:t>
            </a:r>
          </a:p>
          <a:p>
            <a:pPr marL="0" indent="0">
              <a:buNone/>
            </a:pPr>
            <a:r>
              <a:rPr lang="de-DE" sz="2200" dirty="0"/>
              <a:t>3. Kleine Phasenänderungen ermöglichen Bewegungserfassung im Sub-Millimeter-Bereich</a:t>
            </a:r>
          </a:p>
          <a:p>
            <a:pPr marL="0" indent="0">
              <a:buNone/>
            </a:pPr>
            <a:r>
              <a:rPr lang="de-DE" sz="2200" dirty="0"/>
              <a:t>4. Dadurch werden Atem- und Herzbewegungen messbar, obwohl sie deutlich kleiner als die Entfernungsauflösung sind</a:t>
            </a:r>
          </a:p>
          <a:p>
            <a:endParaRPr lang="de-DE" dirty="0"/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A8E35FF7-C150-2C8D-9556-6F88C50A1E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36" t="23250" r="8061" b="22714"/>
          <a:stretch>
            <a:fillRect/>
          </a:stretch>
        </p:blipFill>
        <p:spPr>
          <a:xfrm>
            <a:off x="8158026" y="5263339"/>
            <a:ext cx="3562025" cy="122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70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175CC16-7039-9D03-4046-AADF8457F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de-DE" sz="3200"/>
              <a:t>Algorithmus-Gesamtübersicht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356DDA-7C8A-7C5E-793B-5E398E84EF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1800"/>
              <a:t>Von Radar-Rohdaten zu Vitalzeichen-Schätzungen</a:t>
            </a:r>
          </a:p>
          <a:p>
            <a:pPr marL="0" indent="0">
              <a:buNone/>
            </a:pPr>
            <a:endParaRPr lang="de-DE" sz="180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BD2F1183-EF09-1897-4DD3-D080B03D1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914618"/>
              </p:ext>
            </p:extLst>
          </p:nvPr>
        </p:nvGraphicFramePr>
        <p:xfrm>
          <a:off x="414909" y="2632423"/>
          <a:ext cx="11164826" cy="3167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69">
                  <a:extLst>
                    <a:ext uri="{9D8B030D-6E8A-4147-A177-3AD203B41FA5}">
                      <a16:colId xmlns:a16="http://schemas.microsoft.com/office/drawing/2014/main" val="3688593265"/>
                    </a:ext>
                  </a:extLst>
                </a:gridCol>
                <a:gridCol w="2006169">
                  <a:extLst>
                    <a:ext uri="{9D8B030D-6E8A-4147-A177-3AD203B41FA5}">
                      <a16:colId xmlns:a16="http://schemas.microsoft.com/office/drawing/2014/main" val="4027526334"/>
                    </a:ext>
                  </a:extLst>
                </a:gridCol>
                <a:gridCol w="3593895">
                  <a:extLst>
                    <a:ext uri="{9D8B030D-6E8A-4147-A177-3AD203B41FA5}">
                      <a16:colId xmlns:a16="http://schemas.microsoft.com/office/drawing/2014/main" val="1622895183"/>
                    </a:ext>
                  </a:extLst>
                </a:gridCol>
                <a:gridCol w="3558593">
                  <a:extLst>
                    <a:ext uri="{9D8B030D-6E8A-4147-A177-3AD203B41FA5}">
                      <a16:colId xmlns:a16="http://schemas.microsoft.com/office/drawing/2014/main" val="772960354"/>
                    </a:ext>
                  </a:extLst>
                </a:gridCol>
              </a:tblGrid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Algorithmisches Modul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Genutztes Python-Modul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Eingangsdaten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Zwischenergebnis / Ausgabe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926754576"/>
                  </a:ext>
                </a:extLst>
              </a:tr>
              <a:tr h="3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Hauptsteuerung der Pipeline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ADC_To_Vital_Signs.py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Benutzerausführung, Projektpfade, Speicherorte für Konfiguration und Rohdaten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Führt die gesamte Verarbeitungskette aus und koordiniert alle Module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609535463"/>
                  </a:ext>
                </a:extLst>
              </a:tr>
              <a:tr h="3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Konfigurationsladen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radar_config.py</a:t>
                      </a:r>
                      <a:r>
                        <a:rPr lang="de-DE" sz="900"/>
                        <a:t>, </a:t>
                      </a:r>
                      <a:r>
                        <a:rPr lang="de-DE" sz="900">
                          <a:latin typeface="Courier New" panose="02070309020205020404" pitchFamily="49" charset="0"/>
                        </a:rPr>
                        <a:t>metadata_utils.py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Radarkonfigurationsdateien und Aufzeichnungsmetadaten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Messparameter wie Samples, Chirps, Frames, Empfangskanäle und Timing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1629514802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Rohdatenrekonstruktion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adc_parser.py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Rohe binäre ADC-Daten + Konfigurationsparameter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Strukturierter Radar-Datenwürfel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2966230495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Entfernungsverarbeitung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range_processing.py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Strukturierter Radar-Datenwürfel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Entfernungsprofile mit Reflexionen bei unterschiedlichen Distanzen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2287356278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Personen- / ROI-Erkennung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latin typeface="Courier New" panose="02070309020205020404" pitchFamily="49" charset="0"/>
                        </a:rPr>
                        <a:t>angle_processing.py</a:t>
                      </a:r>
                      <a:endParaRPr lang="de-DE" sz="900" dirty="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Entfernungsprofile und Reflexionsstärke über die Zeit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Ausgewählte Person / Region </a:t>
                      </a:r>
                      <a:r>
                        <a:rPr lang="de-DE" sz="900" dirty="0" err="1"/>
                        <a:t>of</a:t>
                      </a:r>
                      <a:r>
                        <a:rPr lang="de-DE" sz="900" dirty="0"/>
                        <a:t> Interest für Vitalzeichenextraktion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248254011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Phasenextraktion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vital_processing.py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Radarsignal aus der ausgewählten Region of Interest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Phasensignal über die Messdauer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260961146"/>
                  </a:ext>
                </a:extLst>
              </a:tr>
              <a:tr h="36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Bewegungsrekonstruktion</a:t>
                      </a:r>
                      <a:endParaRPr lang="de-DE" sz="900" dirty="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vital_processing.py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Phasensignal über die Zeit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Entfaltete Phase und verschiebungsähnliches Brustbewegungssignal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2204799490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Filterung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vital_processing.py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Bewegungssignal mit Atmung, Herzschlag, Drift und Rauschen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Separates Atemband- und Herzband-Bewegungssignal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2566349082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 dirty="0"/>
                        <a:t>Frequenzschätzung</a:t>
                      </a:r>
                      <a:endParaRPr lang="de-DE" sz="900" dirty="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vital_processing.py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Gefilterte Atem- und Herzbandsignale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Geschätzte Atemfrequenz und Herzfrequenz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4292209916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Finale Visualisierung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>
                          <a:latin typeface="Courier New" panose="02070309020205020404" pitchFamily="49" charset="0"/>
                        </a:rPr>
                        <a:t>plotting.py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Geschätzte Frequenzen und verarbeitete Signale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Dashboard mit der finalen Vitalzeichenanalyse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410244295"/>
                  </a:ext>
                </a:extLst>
              </a:tr>
              <a:tr h="2301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b="1"/>
                        <a:t>Gemeinsame Hilfsfunktionen</a:t>
                      </a:r>
                      <a:endParaRPr lang="de-DE" sz="90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>
                          <a:latin typeface="Courier New" panose="02070309020205020404" pitchFamily="49" charset="0"/>
                        </a:rPr>
                        <a:t>common.py</a:t>
                      </a:r>
                      <a:endParaRPr lang="de-DE" sz="900" dirty="0"/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/>
                        <a:t>Gemeinsame Konstanten, Hilfsfunktionen und Utility-Logik</a:t>
                      </a:r>
                    </a:p>
                  </a:txBody>
                  <a:tcPr marL="67689" marR="67689" marT="33844" marB="338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900" dirty="0"/>
                        <a:t>Unterstützende Funktionen für die gesamte Verarbeitungskette</a:t>
                      </a:r>
                    </a:p>
                  </a:txBody>
                  <a:tcPr marL="67689" marR="67689" marT="33844" marB="33844" anchor="ctr"/>
                </a:tc>
                <a:extLst>
                  <a:ext uri="{0D108BD9-81ED-4DB2-BD59-A6C34878D82A}">
                    <a16:rowId xmlns:a16="http://schemas.microsoft.com/office/drawing/2014/main" val="2904827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5703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4320" y="319719"/>
            <a:ext cx="10515600" cy="1325563"/>
          </a:xfrm>
        </p:spPr>
        <p:txBody>
          <a:bodyPr/>
          <a:lstStyle/>
          <a:p>
            <a:r>
              <a:rPr lang="de-DE" dirty="0"/>
              <a:t>Verarbeitungskette</a:t>
            </a:r>
          </a:p>
        </p:txBody>
      </p:sp>
      <p:sp>
        <p:nvSpPr>
          <p:cNvPr id="3" name="Untertitel"/>
          <p:cNvSpPr txBox="1"/>
          <p:nvPr/>
        </p:nvSpPr>
        <p:spPr>
          <a:xfrm>
            <a:off x="460000" y="1330000"/>
            <a:ext cx="11272000" cy="45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de-DE" sz="1600" b="0" dirty="0">
                <a:solidFill>
                  <a:srgbClr val="156082"/>
                </a:solidFill>
              </a:rPr>
              <a:t>Von Radar-Rohdaten zu Vitalzeichen </a:t>
            </a:r>
          </a:p>
        </p:txBody>
      </p:sp>
      <p:sp>
        <p:nvSpPr>
          <p:cNvPr id="40" name="Stufe0">
            <a:hlinkClick r:id="rId2" action="ppaction://hlinksldjump"/>
          </p:cNvPr>
          <p:cNvSpPr/>
          <p:nvPr/>
        </p:nvSpPr>
        <p:spPr>
          <a:xfrm>
            <a:off x="460000" y="2150000"/>
            <a:ext cx="1400000" cy="950000"/>
          </a:xfrm>
          <a:prstGeom prst="roundRect">
            <a:avLst>
              <a:gd name="adj" fmla="val 8000"/>
            </a:avLst>
          </a:prstGeom>
          <a:solidFill>
            <a:srgbClr val="E4E7EA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 dirty="0">
                <a:solidFill>
                  <a:srgbClr val="0E2841"/>
                </a:solidFill>
              </a:rPr>
              <a:t>Rohdaten</a:t>
            </a:r>
          </a:p>
          <a:p>
            <a:pPr algn="ctr"/>
            <a:r>
              <a:rPr lang="de-DE" sz="850" dirty="0">
                <a:solidFill>
                  <a:srgbClr val="0E2841"/>
                </a:solidFill>
              </a:rPr>
              <a:t>Rekonstruktion</a:t>
            </a:r>
          </a:p>
        </p:txBody>
      </p:sp>
      <p:sp>
        <p:nvSpPr>
          <p:cNvPr id="41" name="Stufe1"/>
          <p:cNvSpPr/>
          <p:nvPr/>
        </p:nvSpPr>
        <p:spPr>
          <a:xfrm>
            <a:off x="2105333" y="2150000"/>
            <a:ext cx="1400000" cy="950000"/>
          </a:xfrm>
          <a:prstGeom prst="roundRect">
            <a:avLst>
              <a:gd name="adj" fmla="val 8000"/>
            </a:avLst>
          </a:prstGeom>
          <a:solidFill>
            <a:srgbClr val="E4E7EA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 dirty="0">
                <a:solidFill>
                  <a:srgbClr val="0E2841"/>
                </a:solidFill>
              </a:rPr>
              <a:t>Entfernung</a:t>
            </a:r>
          </a:p>
          <a:p>
            <a:pPr algn="ctr"/>
            <a:r>
              <a:rPr lang="de-DE" sz="850" dirty="0">
                <a:solidFill>
                  <a:srgbClr val="0E2841"/>
                </a:solidFill>
              </a:rPr>
              <a:t>Range-FFT</a:t>
            </a:r>
          </a:p>
        </p:txBody>
      </p:sp>
      <p:sp>
        <p:nvSpPr>
          <p:cNvPr id="42" name="Stufe2">
            <a:hlinkClick r:id="rId3" action="ppaction://hlinksldjump"/>
          </p:cNvPr>
          <p:cNvSpPr/>
          <p:nvPr/>
        </p:nvSpPr>
        <p:spPr>
          <a:xfrm>
            <a:off x="3750666" y="2150000"/>
            <a:ext cx="1400000" cy="950000"/>
          </a:xfrm>
          <a:prstGeom prst="roundRect">
            <a:avLst>
              <a:gd name="adj" fmla="val 8000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 dirty="0">
                <a:solidFill>
                  <a:srgbClr val="0E2841"/>
                </a:solidFill>
              </a:rPr>
              <a:t>ROI-Erkennung</a:t>
            </a:r>
          </a:p>
          <a:p>
            <a:pPr algn="ctr"/>
            <a:r>
              <a:rPr lang="de-DE" sz="850" dirty="0">
                <a:solidFill>
                  <a:srgbClr val="0E2841"/>
                </a:solidFill>
              </a:rPr>
              <a:t>Brustbewegung</a:t>
            </a:r>
          </a:p>
          <a:p>
            <a:pPr algn="ctr"/>
            <a:r>
              <a:rPr lang="de-DE" sz="850" dirty="0">
                <a:solidFill>
                  <a:srgbClr val="0E2841"/>
                </a:solidFill>
              </a:rPr>
              <a:t>(Analysierung von Entfernungsbins und Winkelbins)</a:t>
            </a:r>
          </a:p>
        </p:txBody>
      </p:sp>
      <p:sp>
        <p:nvSpPr>
          <p:cNvPr id="43" name="Stufe3"/>
          <p:cNvSpPr/>
          <p:nvPr/>
        </p:nvSpPr>
        <p:spPr>
          <a:xfrm>
            <a:off x="5395999" y="2150000"/>
            <a:ext cx="1400000" cy="950000"/>
          </a:xfrm>
          <a:prstGeom prst="roundRect">
            <a:avLst>
              <a:gd name="adj" fmla="val 8000"/>
            </a:avLst>
          </a:prstGeom>
          <a:solidFill>
            <a:srgbClr val="E4E7EA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>
                <a:solidFill>
                  <a:srgbClr val="0E2841"/>
                </a:solidFill>
              </a:rPr>
              <a:t>Phase</a:t>
            </a:r>
          </a:p>
          <a:p>
            <a:pPr algn="ctr"/>
            <a:r>
              <a:rPr lang="de-DE" sz="850">
                <a:solidFill>
                  <a:srgbClr val="0E2841"/>
                </a:solidFill>
              </a:rPr>
              <a:t>Unwrapping</a:t>
            </a:r>
          </a:p>
        </p:txBody>
      </p:sp>
      <p:sp>
        <p:nvSpPr>
          <p:cNvPr id="44" name="Stufe4"/>
          <p:cNvSpPr/>
          <p:nvPr/>
        </p:nvSpPr>
        <p:spPr>
          <a:xfrm>
            <a:off x="7041332" y="2150000"/>
            <a:ext cx="1400000" cy="950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>
                <a:solidFill>
                  <a:srgbClr val="FFFFFF"/>
                </a:solidFill>
              </a:rPr>
              <a:t>Filterung</a:t>
            </a:r>
          </a:p>
          <a:p>
            <a:pPr algn="ctr"/>
            <a:r>
              <a:rPr lang="de-DE" sz="850">
                <a:solidFill>
                  <a:srgbClr val="D6E7EE"/>
                </a:solidFill>
              </a:rPr>
              <a:t>Detrend + Bandpass</a:t>
            </a:r>
          </a:p>
        </p:txBody>
      </p:sp>
      <p:sp>
        <p:nvSpPr>
          <p:cNvPr id="45" name="Stufe5"/>
          <p:cNvSpPr/>
          <p:nvPr/>
        </p:nvSpPr>
        <p:spPr>
          <a:xfrm>
            <a:off x="8686665" y="2150000"/>
            <a:ext cx="1400000" cy="950000"/>
          </a:xfrm>
          <a:prstGeom prst="roundRect">
            <a:avLst>
              <a:gd name="adj" fmla="val 8000"/>
            </a:avLst>
          </a:prstGeom>
          <a:solidFill>
            <a:srgbClr val="E4E7EA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>
                <a:solidFill>
                  <a:srgbClr val="0E2841"/>
                </a:solidFill>
              </a:rPr>
              <a:t>Frequenz</a:t>
            </a:r>
          </a:p>
          <a:p>
            <a:pPr algn="ctr"/>
            <a:r>
              <a:rPr lang="de-DE" sz="850">
                <a:solidFill>
                  <a:srgbClr val="0E2841"/>
                </a:solidFill>
              </a:rPr>
              <a:t>FFT &amp; Peak-Wahl</a:t>
            </a:r>
          </a:p>
        </p:txBody>
      </p:sp>
      <p:sp>
        <p:nvSpPr>
          <p:cNvPr id="46" name="Stufe6"/>
          <p:cNvSpPr/>
          <p:nvPr/>
        </p:nvSpPr>
        <p:spPr>
          <a:xfrm>
            <a:off x="10331998" y="2150000"/>
            <a:ext cx="1400000" cy="9500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>
                <a:solidFill>
                  <a:srgbClr val="FFFFFF"/>
                </a:solidFill>
              </a:rPr>
              <a:t>Vitalzeichen</a:t>
            </a:r>
          </a:p>
          <a:p>
            <a:pPr algn="ctr"/>
            <a:r>
              <a:rPr lang="de-DE" sz="850">
                <a:solidFill>
                  <a:srgbClr val="C9D3DC"/>
                </a:solidFill>
              </a:rPr>
              <a:t>Atem- &amp; Herzrate</a:t>
            </a:r>
          </a:p>
        </p:txBody>
      </p:sp>
      <p:sp>
        <p:nvSpPr>
          <p:cNvPr id="60" name="Pfeil"/>
          <p:cNvSpPr/>
          <p:nvPr/>
        </p:nvSpPr>
        <p:spPr>
          <a:xfrm>
            <a:off x="1892666" y="2475000"/>
            <a:ext cx="180000" cy="30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1" name="Pfeil"/>
          <p:cNvSpPr/>
          <p:nvPr/>
        </p:nvSpPr>
        <p:spPr>
          <a:xfrm>
            <a:off x="3537999" y="2475000"/>
            <a:ext cx="180000" cy="30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2" name="Pfeil"/>
          <p:cNvSpPr/>
          <p:nvPr/>
        </p:nvSpPr>
        <p:spPr>
          <a:xfrm>
            <a:off x="5183332" y="2475000"/>
            <a:ext cx="180000" cy="30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3" name="Pfeil"/>
          <p:cNvSpPr/>
          <p:nvPr/>
        </p:nvSpPr>
        <p:spPr>
          <a:xfrm>
            <a:off x="6828665" y="2475000"/>
            <a:ext cx="180000" cy="30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4" name="Pfeil"/>
          <p:cNvSpPr/>
          <p:nvPr/>
        </p:nvSpPr>
        <p:spPr>
          <a:xfrm>
            <a:off x="8473998" y="2475000"/>
            <a:ext cx="180000" cy="30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5" name="Pfeil"/>
          <p:cNvSpPr/>
          <p:nvPr/>
        </p:nvSpPr>
        <p:spPr>
          <a:xfrm>
            <a:off x="10119331" y="2475000"/>
            <a:ext cx="180000" cy="30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0" name="Pfeil"/>
          <p:cNvSpPr/>
          <p:nvPr/>
        </p:nvSpPr>
        <p:spPr>
          <a:xfrm>
            <a:off x="7601332" y="3100000"/>
            <a:ext cx="280000" cy="400000"/>
          </a:xfrm>
          <a:prstGeom prst="downArrow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C539C7B-3CC0-44B0-49A2-8C9B197F5A1C}"/>
              </a:ext>
            </a:extLst>
          </p:cNvPr>
          <p:cNvGrpSpPr/>
          <p:nvPr/>
        </p:nvGrpSpPr>
        <p:grpSpPr>
          <a:xfrm>
            <a:off x="4130744" y="3755000"/>
            <a:ext cx="7647680" cy="1390000"/>
            <a:chOff x="460000" y="4960000"/>
            <a:chExt cx="7647680" cy="1390000"/>
          </a:xfrm>
        </p:grpSpPr>
        <p:sp>
          <p:nvSpPr>
            <p:cNvPr id="71" name="Panel"/>
            <p:cNvSpPr/>
            <p:nvPr/>
          </p:nvSpPr>
          <p:spPr>
            <a:xfrm>
              <a:off x="460000" y="4960000"/>
              <a:ext cx="7647680" cy="1390000"/>
            </a:xfrm>
            <a:prstGeom prst="roundRect">
              <a:avLst>
                <a:gd name="adj" fmla="val 4000"/>
              </a:avLst>
            </a:prstGeom>
            <a:solidFill>
              <a:srgbClr val="EDF3F5"/>
            </a:solidFill>
            <a:ln w="12700">
              <a:solidFill>
                <a:srgbClr val="156082"/>
              </a:solidFill>
            </a:ln>
          </p:spPr>
          <p:txBody>
            <a:bodyPr wrap="square" lIns="72000" tIns="36000" rIns="72000" bIns="36000" anchor="ctr">
              <a:normAutofit/>
            </a:bodyPr>
            <a:lstStyle/>
            <a:p>
              <a:endParaRPr lang="de-DE"/>
            </a:p>
          </p:txBody>
        </p:sp>
        <p:sp>
          <p:nvSpPr>
            <p:cNvPr id="73" name="F1"/>
            <p:cNvSpPr/>
            <p:nvPr/>
          </p:nvSpPr>
          <p:spPr>
            <a:xfrm>
              <a:off x="760000" y="5218060"/>
              <a:ext cx="2214623" cy="89194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56082"/>
              </a:solidFill>
            </a:ln>
          </p:spPr>
          <p:txBody>
            <a:bodyPr wrap="square" lIns="72000" tIns="36000" rIns="72000" bIns="36000" anchor="ctr">
              <a:normAutofit/>
            </a:bodyPr>
            <a:lstStyle/>
            <a:p>
              <a:pPr algn="ctr"/>
              <a:r>
                <a:rPr lang="de-DE" sz="1300" b="1" dirty="0" err="1">
                  <a:solidFill>
                    <a:srgbClr val="156082"/>
                  </a:solidFill>
                </a:rPr>
                <a:t>Detrending</a:t>
              </a:r>
              <a:endParaRPr lang="de-DE" sz="1300" b="1" dirty="0">
                <a:solidFill>
                  <a:srgbClr val="156082"/>
                </a:solidFill>
              </a:endParaRPr>
            </a:p>
            <a:p>
              <a:pPr algn="ctr"/>
              <a:r>
                <a:rPr lang="de-DE" sz="1100" dirty="0">
                  <a:solidFill>
                    <a:srgbClr val="0E2841"/>
                  </a:solidFill>
                </a:rPr>
                <a:t>Moving-Average</a:t>
              </a:r>
            </a:p>
            <a:p>
              <a:pPr algn="ctr"/>
              <a:r>
                <a:rPr lang="de-DE" sz="1000" dirty="0">
                  <a:solidFill>
                    <a:srgbClr val="0E2841"/>
                  </a:solidFill>
                </a:rPr>
                <a:t>entfernt langsame Basisliniendrift</a:t>
              </a:r>
            </a:p>
          </p:txBody>
        </p:sp>
        <p:sp>
          <p:nvSpPr>
            <p:cNvPr id="74" name="F2"/>
            <p:cNvSpPr/>
            <p:nvPr/>
          </p:nvSpPr>
          <p:spPr>
            <a:xfrm>
              <a:off x="3274625" y="5218060"/>
              <a:ext cx="1998707" cy="95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56082"/>
              </a:solidFill>
            </a:ln>
          </p:spPr>
          <p:txBody>
            <a:bodyPr wrap="square" lIns="72000" tIns="36000" rIns="72000" bIns="36000" anchor="ctr">
              <a:normAutofit/>
            </a:bodyPr>
            <a:lstStyle/>
            <a:p>
              <a:pPr algn="ctr"/>
              <a:r>
                <a:rPr lang="de-DE" sz="1300" b="1" dirty="0">
                  <a:solidFill>
                    <a:srgbClr val="156082"/>
                  </a:solidFill>
                </a:rPr>
                <a:t>Bandpassfilter</a:t>
              </a:r>
            </a:p>
            <a:p>
              <a:pPr algn="ctr"/>
              <a:r>
                <a:rPr lang="de-DE" sz="1100" dirty="0">
                  <a:solidFill>
                    <a:srgbClr val="0E2841"/>
                  </a:solidFill>
                </a:rPr>
                <a:t>Butterworth 4. Ordnung · nullphasig</a:t>
              </a:r>
            </a:p>
            <a:p>
              <a:pPr algn="ctr"/>
              <a:r>
                <a:rPr lang="de-DE" sz="1000" dirty="0">
                  <a:solidFill>
                    <a:srgbClr val="0E2841"/>
                  </a:solidFill>
                </a:rPr>
                <a:t>Atem 0,10–0,60 Hz</a:t>
              </a:r>
            </a:p>
            <a:p>
              <a:pPr algn="ctr"/>
              <a:r>
                <a:rPr lang="de-DE" sz="1000" dirty="0">
                  <a:solidFill>
                    <a:srgbClr val="0E2841"/>
                  </a:solidFill>
                </a:rPr>
                <a:t>Herz 0,80–2,00 Hz</a:t>
              </a:r>
            </a:p>
          </p:txBody>
        </p:sp>
        <p:sp>
          <p:nvSpPr>
            <p:cNvPr id="75" name="F3"/>
            <p:cNvSpPr/>
            <p:nvPr/>
          </p:nvSpPr>
          <p:spPr>
            <a:xfrm>
              <a:off x="5656667" y="5218060"/>
              <a:ext cx="2224665" cy="95888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2700">
              <a:solidFill>
                <a:srgbClr val="156082"/>
              </a:solidFill>
            </a:ln>
          </p:spPr>
          <p:txBody>
            <a:bodyPr wrap="square" lIns="72000" tIns="36000" rIns="72000" bIns="36000" anchor="ctr">
              <a:normAutofit/>
            </a:bodyPr>
            <a:lstStyle/>
            <a:p>
              <a:pPr algn="ctr"/>
              <a:r>
                <a:rPr lang="de-DE" sz="1300" b="1">
                  <a:solidFill>
                    <a:srgbClr val="156082"/>
                  </a:solidFill>
                </a:rPr>
                <a:t>Verlaufs-Glättung</a:t>
              </a:r>
            </a:p>
            <a:p>
              <a:pPr algn="ctr"/>
              <a:r>
                <a:rPr lang="de-DE" sz="1100">
                  <a:solidFill>
                    <a:srgbClr val="0E2841"/>
                  </a:solidFill>
                </a:rPr>
                <a:t>Medianfilter · Sprungbegrenzung</a:t>
              </a:r>
            </a:p>
            <a:p>
              <a:pPr algn="ctr"/>
              <a:r>
                <a:rPr lang="de-DE" sz="1000">
                  <a:solidFill>
                    <a:srgbClr val="0E2841"/>
                  </a:solidFill>
                </a:rPr>
                <a:t>exponentielle Glättung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016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1BC667-BE21-65FF-9967-45EFC85C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e-DE" sz="3400"/>
              <a:t>Rohdatenrekonstruktion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7CCC08-BB10-337D-2735-CAB5F1F3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DE" sz="1500"/>
              <a:t>Von mmWave-Studio-Ausgabe zu strukturierten Radar-Frames</a:t>
            </a:r>
          </a:p>
          <a:p>
            <a:r>
              <a:rPr lang="de-DE" sz="1500"/>
              <a:t>mmWave Studio kann rohe ADC-Dateien mit unterschiedlichen Radarkonfigurationen erzeugen</a:t>
            </a:r>
          </a:p>
          <a:p>
            <a:r>
              <a:rPr lang="de-DE" sz="1500"/>
              <a:t>Der Code liest verfügbare Konfigurationsquellen ein und passt die Rekonstruktion automatisch an</a:t>
            </a:r>
          </a:p>
          <a:p>
            <a:r>
              <a:rPr lang="de-DE" sz="1500"/>
              <a:t>Rohe Binärdaten werden in Frames, Chirps, Empfangskanäle und ADC-Samples umgeformt</a:t>
            </a:r>
          </a:p>
          <a:p>
            <a:r>
              <a:rPr lang="de-DE" sz="1500"/>
              <a:t>Der rekonstruierte Datenwürfel ist die notwendige Eingabe für alle weiteren Verarbeitungsschritte</a:t>
            </a:r>
          </a:p>
          <a:p>
            <a:r>
              <a:rPr lang="de-DE" sz="1500"/>
              <a:t>Typische Projektkonfiguration: 77 GHz Startfrequenz, 256 ADC-Samples, 4 RX-Kanäle, komplexe IQ-Daten, 2 LVDS-Lanes, 20 Hz Frame-Rate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8579DDE-D2B4-BAC9-205A-5EDD61482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245413"/>
            <a:ext cx="5458968" cy="436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83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6C1D77-2556-6AF6-66A1-03E947459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Rohdatenrekonstruktion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2C4A2ECE-3AB6-B430-082E-F56EFC85F0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320078"/>
              </p:ext>
            </p:extLst>
          </p:nvPr>
        </p:nvGraphicFramePr>
        <p:xfrm>
          <a:off x="838200" y="1825625"/>
          <a:ext cx="105156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710842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516934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Typischer Projektwert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4848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Startfrequenz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77 GHz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276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ADC-Samples pro Chirp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256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2427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ADC-Format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16-bit komplexes IQ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763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Empfangskanäle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4 RX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139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LVDS-Lanes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5446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Abtastrate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10.000 ksps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206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Frequenzanstieg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ca. 29,98 MHz/µs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214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Chirps pro 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388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Konfigurierte Frames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1200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46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Frame-Periode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/>
                        <a:t>50 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6308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Frame-Rate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de-DE" dirty="0"/>
                        <a:t>20 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726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460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0BD9A1-DF6A-36CF-E180-9A8AF1F5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 fontScale="90000"/>
          </a:bodyPr>
          <a:lstStyle/>
          <a:p>
            <a:r>
              <a:rPr lang="de-DE" dirty="0"/>
              <a:t>Reflexionen nach Entfernung trennen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0E90BC-339A-F19C-B5A9-77E37383E7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3331"/>
            <a:ext cx="3250000" cy="1950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DE" dirty="0"/>
              <a:t>Entfernungsverarbeitung</a:t>
            </a:r>
          </a:p>
          <a:p>
            <a:r>
              <a:rPr lang="de-DE"/>
              <a:t>Chirp</a:t>
            </a:r>
            <a:r>
              <a:rPr lang="de-DE" dirty="0"/>
              <a:t> durchläuft einen Frequenzbereich</a:t>
            </a:r>
          </a:p>
          <a:p>
            <a:r>
              <a:rPr lang="de-DE">
                <a:solidFill>
                  <a:srgbClr val="156082"/>
                </a:solidFill>
              </a:rPr>
              <a:t>Verzögerung wird zur </a:t>
            </a:r>
            <a:r>
              <a:rPr lang="de-DE" dirty="0">
                <a:solidFill>
                  <a:srgbClr val="156082"/>
                </a:solidFill>
              </a:rPr>
              <a:t>Beat-Frequenz</a:t>
            </a:r>
          </a:p>
          <a:p>
            <a:r>
              <a:rPr lang="de-DE"/>
              <a:t>Peaks zeigen </a:t>
            </a:r>
            <a:r>
              <a:rPr lang="de-DE" dirty="0"/>
              <a:t>Objekte </a:t>
            </a:r>
            <a:r>
              <a:rPr lang="de-DE"/>
              <a:t>und </a:t>
            </a:r>
            <a:r>
              <a:rPr lang="de-DE" dirty="0"/>
              <a:t>Körperregionen</a:t>
            </a:r>
          </a:p>
        </p:txBody>
      </p:sp>
      <p:sp>
        <p:nvSpPr>
          <p:cNvPr id="100" name="Chip 1"/>
          <p:cNvSpPr/>
          <p:nvPr/>
        </p:nvSpPr>
        <p:spPr>
          <a:xfrm>
            <a:off x="4400000" y="1290000"/>
            <a:ext cx="695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>
            <a:outerShdw blurRad="90000" dist="30000" dir="5400000" rotWithShape="0">
              <a:srgbClr val="0E2841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0" name="Badge 1"/>
          <p:cNvSpPr/>
          <p:nvPr/>
        </p:nvSpPr>
        <p:spPr>
          <a:xfrm>
            <a:off x="4560000" y="1390000"/>
            <a:ext cx="520000" cy="52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0" name="Label 1"/>
          <p:cNvSpPr txBox="1"/>
          <p:nvPr/>
        </p:nvSpPr>
        <p:spPr>
          <a:xfrm>
            <a:off x="5300000" y="1290000"/>
            <a:ext cx="589000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de-DE" sz="1500" b="1">
                <a:solidFill>
                  <a:srgbClr val="0E2841"/>
                </a:solidFill>
              </a:rPr>
              <a:t>Chirp senden</a:t>
            </a:r>
          </a:p>
          <a:p>
            <a:r>
              <a:rPr lang="de-DE" sz="1100">
                <a:solidFill>
                  <a:srgbClr val="595959"/>
                </a:solidFill>
              </a:rPr>
              <a:t>Frequenz steigt über die Zeit an</a:t>
            </a:r>
          </a:p>
        </p:txBody>
      </p:sp>
      <p:sp>
        <p:nvSpPr>
          <p:cNvPr id="200" name="Arrow 0"/>
          <p:cNvSpPr/>
          <p:nvPr/>
        </p:nvSpPr>
        <p:spPr>
          <a:xfrm>
            <a:off x="4750000" y="1980000"/>
            <a:ext cx="140000" cy="188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56082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1" name="Chip 2"/>
          <p:cNvSpPr/>
          <p:nvPr/>
        </p:nvSpPr>
        <p:spPr>
          <a:xfrm>
            <a:off x="4400000" y="2138000"/>
            <a:ext cx="695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>
            <a:outerShdw blurRad="90000" dist="30000" dir="5400000" rotWithShape="0">
              <a:srgbClr val="0E2841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1" name="Badge 2"/>
          <p:cNvSpPr/>
          <p:nvPr/>
        </p:nvSpPr>
        <p:spPr>
          <a:xfrm>
            <a:off x="4560000" y="2238000"/>
            <a:ext cx="520000" cy="52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1" name="Label 2"/>
          <p:cNvSpPr txBox="1"/>
          <p:nvPr/>
        </p:nvSpPr>
        <p:spPr>
          <a:xfrm>
            <a:off x="5300000" y="2138000"/>
            <a:ext cx="589000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de-DE" sz="1500" b="1" dirty="0">
                <a:solidFill>
                  <a:srgbClr val="0E2841"/>
                </a:solidFill>
              </a:rPr>
              <a:t>Reflexion mit Verzögerung</a:t>
            </a:r>
          </a:p>
          <a:p>
            <a:r>
              <a:rPr lang="de-DE" sz="1100" dirty="0">
                <a:solidFill>
                  <a:srgbClr val="595959"/>
                </a:solidFill>
              </a:rPr>
              <a:t>Je weiter das Objekt, desto später</a:t>
            </a:r>
          </a:p>
        </p:txBody>
      </p:sp>
      <p:sp>
        <p:nvSpPr>
          <p:cNvPr id="201" name="Arrow 1"/>
          <p:cNvSpPr/>
          <p:nvPr/>
        </p:nvSpPr>
        <p:spPr>
          <a:xfrm>
            <a:off x="4750000" y="2828000"/>
            <a:ext cx="140000" cy="188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56082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2" name="Chip 3"/>
          <p:cNvSpPr/>
          <p:nvPr/>
        </p:nvSpPr>
        <p:spPr>
          <a:xfrm>
            <a:off x="4400000" y="2986000"/>
            <a:ext cx="695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>
            <a:outerShdw blurRad="90000" dist="30000" dir="5400000" rotWithShape="0">
              <a:srgbClr val="0E2841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2" name="Badge 3"/>
          <p:cNvSpPr/>
          <p:nvPr/>
        </p:nvSpPr>
        <p:spPr>
          <a:xfrm>
            <a:off x="4560000" y="3086000"/>
            <a:ext cx="520000" cy="52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2" name="Label 3"/>
          <p:cNvSpPr txBox="1"/>
          <p:nvPr/>
        </p:nvSpPr>
        <p:spPr>
          <a:xfrm>
            <a:off x="5300000" y="2986000"/>
            <a:ext cx="589000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de-DE" sz="1500" b="1">
                <a:solidFill>
                  <a:srgbClr val="0E2841"/>
                </a:solidFill>
              </a:rPr>
              <a:t>Mischen → Beat-Signal</a:t>
            </a:r>
          </a:p>
          <a:p>
            <a:r>
              <a:rPr lang="de-DE" sz="1100">
                <a:solidFill>
                  <a:srgbClr val="595959"/>
                </a:solidFill>
              </a:rPr>
              <a:t>Beat-Frequenz ∝ Entfernung</a:t>
            </a:r>
          </a:p>
        </p:txBody>
      </p:sp>
      <p:sp>
        <p:nvSpPr>
          <p:cNvPr id="202" name="Arrow 2"/>
          <p:cNvSpPr/>
          <p:nvPr/>
        </p:nvSpPr>
        <p:spPr>
          <a:xfrm>
            <a:off x="4750000" y="3676000"/>
            <a:ext cx="140000" cy="188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56082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3" name="Chip 4"/>
          <p:cNvSpPr/>
          <p:nvPr/>
        </p:nvSpPr>
        <p:spPr>
          <a:xfrm>
            <a:off x="4400000" y="3834000"/>
            <a:ext cx="695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>
            <a:outerShdw blurRad="90000" dist="30000" dir="5400000" rotWithShape="0">
              <a:srgbClr val="0E2841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3" name="Badge 4"/>
          <p:cNvSpPr/>
          <p:nvPr/>
        </p:nvSpPr>
        <p:spPr>
          <a:xfrm>
            <a:off x="4560000" y="3934000"/>
            <a:ext cx="520000" cy="52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3" name="Label 4"/>
          <p:cNvSpPr txBox="1"/>
          <p:nvPr/>
        </p:nvSpPr>
        <p:spPr>
          <a:xfrm>
            <a:off x="5300000" y="3834000"/>
            <a:ext cx="589000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de-DE" sz="1500" b="1">
                <a:solidFill>
                  <a:srgbClr val="0E2841"/>
                </a:solidFill>
              </a:rPr>
              <a:t>Fourier-Transformation</a:t>
            </a:r>
          </a:p>
          <a:p>
            <a:r>
              <a:rPr lang="de-DE" sz="1100">
                <a:solidFill>
                  <a:srgbClr val="595959"/>
                </a:solidFill>
              </a:rPr>
              <a:t>über die ADC-Samples eines Chirps</a:t>
            </a:r>
          </a:p>
        </p:txBody>
      </p:sp>
      <p:sp>
        <p:nvSpPr>
          <p:cNvPr id="203" name="Arrow 3"/>
          <p:cNvSpPr/>
          <p:nvPr/>
        </p:nvSpPr>
        <p:spPr>
          <a:xfrm>
            <a:off x="4750000" y="4524000"/>
            <a:ext cx="140000" cy="188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56082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4" name="Chip 5"/>
          <p:cNvSpPr/>
          <p:nvPr/>
        </p:nvSpPr>
        <p:spPr>
          <a:xfrm>
            <a:off x="4400000" y="4682000"/>
            <a:ext cx="695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>
            <a:outerShdw blurRad="90000" dist="30000" dir="5400000" rotWithShape="0">
              <a:srgbClr val="0E2841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4" name="Badge 5"/>
          <p:cNvSpPr/>
          <p:nvPr/>
        </p:nvSpPr>
        <p:spPr>
          <a:xfrm>
            <a:off x="4560000" y="4782000"/>
            <a:ext cx="520000" cy="5200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4" name="Label 5"/>
          <p:cNvSpPr txBox="1"/>
          <p:nvPr/>
        </p:nvSpPr>
        <p:spPr>
          <a:xfrm>
            <a:off x="5300000" y="4682000"/>
            <a:ext cx="589000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de-DE" sz="1500" b="1">
                <a:solidFill>
                  <a:srgbClr val="0E2841"/>
                </a:solidFill>
              </a:rPr>
              <a:t>Entfernungsprofil</a:t>
            </a:r>
          </a:p>
          <a:p>
            <a:r>
              <a:rPr lang="de-DE" sz="1100">
                <a:solidFill>
                  <a:srgbClr val="595959"/>
                </a:solidFill>
              </a:rPr>
              <a:t>Peaks zeigen starke Reflexionen</a:t>
            </a:r>
          </a:p>
        </p:txBody>
      </p:sp>
      <p:sp>
        <p:nvSpPr>
          <p:cNvPr id="204" name="Arrow 4"/>
          <p:cNvSpPr/>
          <p:nvPr/>
        </p:nvSpPr>
        <p:spPr>
          <a:xfrm>
            <a:off x="4750000" y="5372000"/>
            <a:ext cx="140000" cy="188000"/>
          </a:xfrm>
          <a:prstGeom prst="downArrow">
            <a:avLst>
              <a:gd name="adj1" fmla="val 60000"/>
              <a:gd name="adj2" fmla="val 55000"/>
            </a:avLst>
          </a:prstGeom>
          <a:solidFill>
            <a:srgbClr val="156082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5" name="Chip 6"/>
          <p:cNvSpPr/>
          <p:nvPr/>
        </p:nvSpPr>
        <p:spPr>
          <a:xfrm>
            <a:off x="4400000" y="5530000"/>
            <a:ext cx="6950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97132"/>
            </a:solidFill>
          </a:ln>
          <a:effectLst>
            <a:outerShdw blurRad="90000" dist="30000" dir="5400000" rotWithShape="0">
              <a:srgbClr val="0E2841">
                <a:alpha val="14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5" name="Badge 6"/>
          <p:cNvSpPr/>
          <p:nvPr/>
        </p:nvSpPr>
        <p:spPr>
          <a:xfrm>
            <a:off x="4560000" y="5630000"/>
            <a:ext cx="520000" cy="5200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 anchor="ctr"/>
          <a:lstStyle/>
          <a:p>
            <a:pPr algn="ctr"/>
            <a:r>
              <a:rPr lang="de-DE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45" name="Label 6"/>
          <p:cNvSpPr txBox="1"/>
          <p:nvPr/>
        </p:nvSpPr>
        <p:spPr>
          <a:xfrm>
            <a:off x="5300000" y="5530000"/>
            <a:ext cx="589000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de-DE" sz="1500" b="1">
                <a:solidFill>
                  <a:srgbClr val="0E2841"/>
                </a:solidFill>
              </a:rPr>
              <a:t>Region of Interest</a:t>
            </a:r>
          </a:p>
          <a:p>
            <a:r>
              <a:rPr lang="de-DE" sz="1100">
                <a:solidFill>
                  <a:srgbClr val="595959"/>
                </a:solidFill>
              </a:rPr>
              <a:t>Fokus auf die Brustbewegung</a:t>
            </a:r>
          </a:p>
        </p:txBody>
      </p:sp>
      <p:sp>
        <p:nvSpPr>
          <p:cNvPr id="300" name="ic-ramp"/>
          <p:cNvSpPr/>
          <p:nvPr/>
        </p:nvSpPr>
        <p:spPr>
          <a:xfrm>
            <a:off x="10670000" y="1390000"/>
            <a:ext cx="520000" cy="520000"/>
          </a:xfrm>
          <a:custGeom>
            <a:avLst/>
            <a:gdLst/>
            <a:ahLst/>
            <a:cxnLst/>
            <a:rect l="0" t="0" r="100" b="100"/>
            <a:pathLst>
              <a:path w="100" h="100" fill="none">
                <a:moveTo>
                  <a:pt x="8" y="90"/>
                </a:moveTo>
                <a:lnTo>
                  <a:pt x="8" y="10"/>
                </a:lnTo>
                <a:moveTo>
                  <a:pt x="8" y="90"/>
                </a:moveTo>
                <a:lnTo>
                  <a:pt x="95" y="90"/>
                </a:lnTo>
                <a:moveTo>
                  <a:pt x="12" y="86"/>
                </a:moveTo>
                <a:lnTo>
                  <a:pt x="45" y="18"/>
                </a:lnTo>
                <a:moveTo>
                  <a:pt x="50" y="86"/>
                </a:moveTo>
                <a:lnTo>
                  <a:pt x="83" y="18"/>
                </a:lnTo>
              </a:path>
            </a:pathLst>
          </a:custGeom>
          <a:noFill/>
          <a:ln w="15875" cap="rnd">
            <a:solidFill>
              <a:srgbClr val="156082"/>
            </a:solidFill>
            <a:round/>
          </a:ln>
        </p:spPr>
        <p:txBody>
          <a:bodyPr/>
          <a:lstStyle/>
          <a:p>
            <a:endParaRPr lang="de-DE"/>
          </a:p>
        </p:txBody>
      </p:sp>
      <p:sp>
        <p:nvSpPr>
          <p:cNvPr id="301" name="ic-refl"/>
          <p:cNvSpPr/>
          <p:nvPr/>
        </p:nvSpPr>
        <p:spPr>
          <a:xfrm>
            <a:off x="10670000" y="2238000"/>
            <a:ext cx="520000" cy="520000"/>
          </a:xfrm>
          <a:custGeom>
            <a:avLst/>
            <a:gdLst/>
            <a:ahLst/>
            <a:cxnLst/>
            <a:rect l="0" t="0" r="100" b="100"/>
            <a:pathLst>
              <a:path w="100" h="100" fill="none">
                <a:moveTo>
                  <a:pt x="32" y="26"/>
                </a:moveTo>
                <a:lnTo>
                  <a:pt x="55" y="50"/>
                </a:lnTo>
                <a:lnTo>
                  <a:pt x="32" y="74"/>
                </a:lnTo>
                <a:moveTo>
                  <a:pt x="52" y="26"/>
                </a:moveTo>
                <a:lnTo>
                  <a:pt x="75" y="50"/>
                </a:lnTo>
                <a:lnTo>
                  <a:pt x="52" y="74"/>
                </a:lnTo>
                <a:moveTo>
                  <a:pt x="72" y="26"/>
                </a:moveTo>
                <a:lnTo>
                  <a:pt x="95" y="50"/>
                </a:lnTo>
                <a:lnTo>
                  <a:pt x="72" y="74"/>
                </a:lnTo>
              </a:path>
            </a:pathLst>
          </a:custGeom>
          <a:noFill/>
          <a:ln w="15875" cap="rnd">
            <a:solidFill>
              <a:srgbClr val="156082"/>
            </a:solidFill>
            <a:round/>
          </a:ln>
        </p:spPr>
        <p:txBody>
          <a:bodyPr/>
          <a:lstStyle/>
          <a:p>
            <a:endParaRPr lang="de-DE"/>
          </a:p>
        </p:txBody>
      </p:sp>
      <p:sp>
        <p:nvSpPr>
          <p:cNvPr id="302" name="ic-dot"/>
          <p:cNvSpPr/>
          <p:nvPr/>
        </p:nvSpPr>
        <p:spPr>
          <a:xfrm>
            <a:off x="10701200" y="2456400"/>
            <a:ext cx="83200" cy="83200"/>
          </a:xfrm>
          <a:prstGeom prst="ellipse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3" name="ic-wave"/>
          <p:cNvSpPr/>
          <p:nvPr/>
        </p:nvSpPr>
        <p:spPr>
          <a:xfrm>
            <a:off x="10670000" y="3086000"/>
            <a:ext cx="520000" cy="520000"/>
          </a:xfrm>
          <a:custGeom>
            <a:avLst/>
            <a:gdLst/>
            <a:ahLst/>
            <a:cxnLst/>
            <a:rect l="0" t="0" r="100" b="100"/>
            <a:pathLst>
              <a:path w="100" h="100" fill="none">
                <a:moveTo>
                  <a:pt x="4" y="50"/>
                </a:moveTo>
                <a:lnTo>
                  <a:pt x="16" y="26"/>
                </a:lnTo>
                <a:lnTo>
                  <a:pt x="29" y="50"/>
                </a:lnTo>
                <a:lnTo>
                  <a:pt x="41" y="74"/>
                </a:lnTo>
                <a:lnTo>
                  <a:pt x="53" y="50"/>
                </a:lnTo>
                <a:lnTo>
                  <a:pt x="65" y="26"/>
                </a:lnTo>
                <a:lnTo>
                  <a:pt x="78" y="50"/>
                </a:lnTo>
                <a:lnTo>
                  <a:pt x="90" y="74"/>
                </a:lnTo>
                <a:lnTo>
                  <a:pt x="97" y="58"/>
                </a:lnTo>
              </a:path>
            </a:pathLst>
          </a:custGeom>
          <a:noFill/>
          <a:ln w="15875" cap="rnd">
            <a:solidFill>
              <a:srgbClr val="156082"/>
            </a:solidFill>
            <a:round/>
          </a:ln>
        </p:spPr>
        <p:txBody>
          <a:bodyPr/>
          <a:lstStyle/>
          <a:p>
            <a:endParaRPr lang="de-DE"/>
          </a:p>
        </p:txBody>
      </p:sp>
      <p:sp>
        <p:nvSpPr>
          <p:cNvPr id="304" name="ic-bar"/>
          <p:cNvSpPr/>
          <p:nvPr/>
        </p:nvSpPr>
        <p:spPr>
          <a:xfrm>
            <a:off x="10732400" y="4183600"/>
            <a:ext cx="67600" cy="218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5" name="ic-bar"/>
          <p:cNvSpPr/>
          <p:nvPr/>
        </p:nvSpPr>
        <p:spPr>
          <a:xfrm>
            <a:off x="10852000" y="3986000"/>
            <a:ext cx="67600" cy="416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6" name="ic-bar"/>
          <p:cNvSpPr/>
          <p:nvPr/>
        </p:nvSpPr>
        <p:spPr>
          <a:xfrm>
            <a:off x="10971600" y="4100400"/>
            <a:ext cx="67600" cy="3016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7" name="ic-bar"/>
          <p:cNvSpPr/>
          <p:nvPr/>
        </p:nvSpPr>
        <p:spPr>
          <a:xfrm>
            <a:off x="11091200" y="4246000"/>
            <a:ext cx="67600" cy="156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8" name="ic-peak"/>
          <p:cNvSpPr/>
          <p:nvPr/>
        </p:nvSpPr>
        <p:spPr>
          <a:xfrm>
            <a:off x="10670000" y="4782000"/>
            <a:ext cx="520000" cy="520000"/>
          </a:xfrm>
          <a:custGeom>
            <a:avLst/>
            <a:gdLst/>
            <a:ahLst/>
            <a:cxnLst/>
            <a:rect l="0" t="0" r="100" b="100"/>
            <a:pathLst>
              <a:path w="100" h="100" fill="none">
                <a:moveTo>
                  <a:pt x="5" y="84"/>
                </a:moveTo>
                <a:lnTo>
                  <a:pt x="24" y="80"/>
                </a:lnTo>
                <a:lnTo>
                  <a:pt x="42" y="82"/>
                </a:lnTo>
                <a:lnTo>
                  <a:pt x="50" y="16"/>
                </a:lnTo>
                <a:lnTo>
                  <a:pt x="58" y="82"/>
                </a:lnTo>
                <a:lnTo>
                  <a:pt x="76" y="80"/>
                </a:lnTo>
                <a:lnTo>
                  <a:pt x="95" y="84"/>
                </a:lnTo>
              </a:path>
            </a:pathLst>
          </a:custGeom>
          <a:noFill/>
          <a:ln w="15875" cap="rnd">
            <a:solidFill>
              <a:srgbClr val="156082"/>
            </a:solidFill>
            <a:round/>
          </a:ln>
        </p:spPr>
        <p:txBody>
          <a:bodyPr/>
          <a:lstStyle/>
          <a:p>
            <a:endParaRPr lang="de-DE"/>
          </a:p>
        </p:txBody>
      </p:sp>
      <p:sp>
        <p:nvSpPr>
          <p:cNvPr id="309" name="ic-ring"/>
          <p:cNvSpPr/>
          <p:nvPr/>
        </p:nvSpPr>
        <p:spPr>
          <a:xfrm>
            <a:off x="10753200" y="5713200"/>
            <a:ext cx="353600" cy="353600"/>
          </a:xfrm>
          <a:prstGeom prst="ellipse">
            <a:avLst/>
          </a:prstGeom>
          <a:noFill/>
          <a:ln w="15875">
            <a:solidFill>
              <a:srgbClr val="E97132"/>
            </a:solidFill>
          </a:ln>
        </p:spPr>
        <p:txBody>
          <a:bodyPr/>
          <a:lstStyle/>
          <a:p>
            <a:endParaRPr lang="de-DE"/>
          </a:p>
        </p:txBody>
      </p:sp>
      <p:sp>
        <p:nvSpPr>
          <p:cNvPr id="310" name="ic-cen"/>
          <p:cNvSpPr/>
          <p:nvPr/>
        </p:nvSpPr>
        <p:spPr>
          <a:xfrm>
            <a:off x="10883200" y="5843200"/>
            <a:ext cx="93600" cy="9360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11" name="ic-tick"/>
          <p:cNvSpPr/>
          <p:nvPr/>
        </p:nvSpPr>
        <p:spPr>
          <a:xfrm>
            <a:off x="10670000" y="5630000"/>
            <a:ext cx="520000" cy="520000"/>
          </a:xfrm>
          <a:custGeom>
            <a:avLst/>
            <a:gdLst/>
            <a:ahLst/>
            <a:cxnLst/>
            <a:rect l="0" t="0" r="100" b="100"/>
            <a:pathLst>
              <a:path w="100" h="100" fill="none">
                <a:moveTo>
                  <a:pt x="50" y="2"/>
                </a:moveTo>
                <a:lnTo>
                  <a:pt x="50" y="13"/>
                </a:lnTo>
                <a:moveTo>
                  <a:pt x="50" y="87"/>
                </a:moveTo>
                <a:lnTo>
                  <a:pt x="50" y="98"/>
                </a:lnTo>
                <a:moveTo>
                  <a:pt x="2" y="50"/>
                </a:moveTo>
                <a:lnTo>
                  <a:pt x="13" y="50"/>
                </a:lnTo>
                <a:moveTo>
                  <a:pt x="87" y="50"/>
                </a:moveTo>
                <a:lnTo>
                  <a:pt x="98" y="50"/>
                </a:lnTo>
              </a:path>
            </a:pathLst>
          </a:custGeom>
          <a:noFill/>
          <a:ln w="12700" cap="rnd">
            <a:solidFill>
              <a:srgbClr val="E97132"/>
            </a:solidFill>
            <a:round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4874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CB962CF-61A3-4EF9-94F6-7C59B0329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7811EC-B2AF-25CB-57B9-A7E32205F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165058"/>
            <a:ext cx="6797405" cy="16514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Region of Interest </a:t>
            </a:r>
            <a:r>
              <a:rPr lang="en-US" sz="4000" dirty="0" err="1"/>
              <a:t>Erkennung</a:t>
            </a:r>
            <a:endParaRPr lang="en-US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BD7AC5-0C81-0175-198A-D250499A2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5288" y="1476631"/>
            <a:ext cx="6797405" cy="371938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514350"/>
            <a:endParaRPr lang="en-US" sz="1600" dirty="0"/>
          </a:p>
          <a:p>
            <a:pPr marL="514350"/>
            <a:r>
              <a:rPr lang="en-US" sz="1600" dirty="0"/>
              <a:t>Range FFT </a:t>
            </a:r>
            <a:r>
              <a:rPr lang="en-US" sz="1600" dirty="0" err="1"/>
              <a:t>wandedlt</a:t>
            </a:r>
            <a:r>
              <a:rPr lang="en-US" sz="1600" dirty="0"/>
              <a:t> den </a:t>
            </a:r>
            <a:r>
              <a:rPr lang="en-US" sz="1600" dirty="0" err="1"/>
              <a:t>Zeitunterschieden</a:t>
            </a:r>
            <a:r>
              <a:rPr lang="en-US" sz="1600" dirty="0"/>
              <a:t> der </a:t>
            </a:r>
            <a:r>
              <a:rPr lang="en-US" sz="1600" dirty="0" err="1"/>
              <a:t>reflektierten</a:t>
            </a:r>
            <a:r>
              <a:rPr lang="en-US" sz="1600" dirty="0"/>
              <a:t> </a:t>
            </a:r>
            <a:r>
              <a:rPr lang="en-US" sz="1600" dirty="0" err="1"/>
              <a:t>Signale</a:t>
            </a:r>
            <a:r>
              <a:rPr lang="en-US" sz="1600" dirty="0"/>
              <a:t> in </a:t>
            </a:r>
            <a:r>
              <a:rPr lang="en-US" sz="1600" dirty="0" err="1"/>
              <a:t>Distanzen</a:t>
            </a:r>
            <a:r>
              <a:rPr lang="en-US" sz="1600" dirty="0"/>
              <a:t> um -&gt; </a:t>
            </a:r>
            <a:r>
              <a:rPr lang="en-US" sz="1600" dirty="0" err="1"/>
              <a:t>Signalstärken</a:t>
            </a:r>
            <a:r>
              <a:rPr lang="en-US" sz="1600" dirty="0"/>
              <a:t> </a:t>
            </a:r>
            <a:r>
              <a:rPr lang="en-US" sz="1600" dirty="0" err="1"/>
              <a:t>werden</a:t>
            </a:r>
            <a:r>
              <a:rPr lang="en-US" sz="1600" dirty="0"/>
              <a:t> den </a:t>
            </a:r>
            <a:r>
              <a:rPr lang="en-US" sz="1600" dirty="0" err="1"/>
              <a:t>Entfernungsbins</a:t>
            </a:r>
            <a:r>
              <a:rPr lang="en-US" sz="1600" dirty="0"/>
              <a:t> </a:t>
            </a:r>
            <a:r>
              <a:rPr lang="en-US" sz="1600" dirty="0" err="1"/>
              <a:t>zugeordnet</a:t>
            </a:r>
            <a:r>
              <a:rPr lang="en-US" sz="1600" dirty="0"/>
              <a:t>.</a:t>
            </a:r>
          </a:p>
          <a:p>
            <a:pPr marL="514350"/>
            <a:r>
              <a:rPr lang="en-US" sz="1600" dirty="0"/>
              <a:t>Für </a:t>
            </a:r>
            <a:r>
              <a:rPr lang="en-US" sz="1600" dirty="0" err="1"/>
              <a:t>jeden</a:t>
            </a:r>
            <a:r>
              <a:rPr lang="en-US" sz="1600" dirty="0"/>
              <a:t> </a:t>
            </a:r>
            <a:r>
              <a:rPr lang="en-US" sz="1600" dirty="0" err="1"/>
              <a:t>Entfernungsbin</a:t>
            </a:r>
            <a:r>
              <a:rPr lang="en-US" sz="1600" dirty="0"/>
              <a:t> </a:t>
            </a:r>
            <a:r>
              <a:rPr lang="en-US" sz="1600" dirty="0" err="1"/>
              <a:t>gehen</a:t>
            </a:r>
            <a:r>
              <a:rPr lang="en-US" sz="1600" dirty="0"/>
              <a:t> </a:t>
            </a:r>
            <a:r>
              <a:rPr lang="en-US" sz="1600" dirty="0" err="1"/>
              <a:t>wir</a:t>
            </a:r>
            <a:r>
              <a:rPr lang="en-US" sz="1600" dirty="0"/>
              <a:t> in </a:t>
            </a:r>
            <a:r>
              <a:rPr lang="en-US" sz="1600" dirty="0" err="1"/>
              <a:t>ung</a:t>
            </a:r>
            <a:r>
              <a:rPr lang="en-US" sz="1600" dirty="0"/>
              <a:t>. 1° </a:t>
            </a:r>
            <a:r>
              <a:rPr lang="en-US" sz="1600" dirty="0" err="1"/>
              <a:t>Schritte</a:t>
            </a:r>
            <a:r>
              <a:rPr lang="en-US" sz="1600" dirty="0"/>
              <a:t> </a:t>
            </a:r>
            <a:r>
              <a:rPr lang="en-US" sz="1600" dirty="0" err="1"/>
              <a:t>durch</a:t>
            </a:r>
            <a:r>
              <a:rPr lang="en-US" sz="1600" dirty="0"/>
              <a:t>, und </a:t>
            </a:r>
            <a:r>
              <a:rPr lang="en-US" sz="1600" dirty="0" err="1"/>
              <a:t>teilen</a:t>
            </a:r>
            <a:r>
              <a:rPr lang="en-US" sz="1600" dirty="0"/>
              <a:t> den </a:t>
            </a:r>
            <a:r>
              <a:rPr lang="en-US" sz="1600" dirty="0" err="1"/>
              <a:t>Rangebin</a:t>
            </a:r>
            <a:r>
              <a:rPr lang="en-US" sz="1600" dirty="0"/>
              <a:t> in </a:t>
            </a:r>
            <a:r>
              <a:rPr lang="en-US" sz="1600" dirty="0" err="1"/>
              <a:t>Spatialbins</a:t>
            </a:r>
            <a:r>
              <a:rPr lang="en-US" sz="1600" dirty="0"/>
              <a:t> auf.</a:t>
            </a:r>
          </a:p>
          <a:p>
            <a:pPr marL="514350"/>
            <a:r>
              <a:rPr lang="en-US" sz="1600" dirty="0" err="1"/>
              <a:t>Jeder</a:t>
            </a:r>
            <a:r>
              <a:rPr lang="en-US" sz="1600" dirty="0"/>
              <a:t> </a:t>
            </a:r>
            <a:r>
              <a:rPr lang="en-US" sz="1600" dirty="0" err="1"/>
              <a:t>Spatialbin</a:t>
            </a:r>
            <a:r>
              <a:rPr lang="en-US" sz="1600" dirty="0"/>
              <a:t> hat </a:t>
            </a:r>
            <a:r>
              <a:rPr lang="en-US" sz="1600" dirty="0" err="1"/>
              <a:t>eine</a:t>
            </a:r>
            <a:r>
              <a:rPr lang="en-US" sz="1600" dirty="0"/>
              <a:t> </a:t>
            </a:r>
            <a:r>
              <a:rPr lang="en-US" sz="1600" dirty="0" err="1"/>
              <a:t>assoziierte</a:t>
            </a:r>
            <a:r>
              <a:rPr lang="en-US" sz="1600" dirty="0"/>
              <a:t> </a:t>
            </a:r>
            <a:r>
              <a:rPr lang="en-US" sz="1600" dirty="0" err="1"/>
              <a:t>Reflektionsstärke</a:t>
            </a:r>
            <a:r>
              <a:rPr lang="en-US" sz="1600" dirty="0"/>
              <a:t>. </a:t>
            </a:r>
            <a:r>
              <a:rPr lang="en-US" sz="1600" dirty="0" err="1"/>
              <a:t>Spatialsbins</a:t>
            </a:r>
            <a:r>
              <a:rPr lang="en-US" sz="1600" dirty="0"/>
              <a:t> </a:t>
            </a: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einer</a:t>
            </a:r>
            <a:r>
              <a:rPr lang="en-US" sz="1600" dirty="0"/>
              <a:t> </a:t>
            </a:r>
            <a:r>
              <a:rPr lang="en-US" sz="1600" dirty="0" err="1"/>
              <a:t>hohen</a:t>
            </a:r>
            <a:r>
              <a:rPr lang="en-US" sz="1600" dirty="0"/>
              <a:t> </a:t>
            </a:r>
            <a:r>
              <a:rPr lang="en-US" sz="1600" dirty="0" err="1"/>
              <a:t>Reflektionsstärke</a:t>
            </a:r>
            <a:r>
              <a:rPr lang="en-US" sz="1600" dirty="0"/>
              <a:t> </a:t>
            </a:r>
            <a:r>
              <a:rPr lang="en-US" sz="1600" dirty="0" err="1"/>
              <a:t>werden</a:t>
            </a:r>
            <a:r>
              <a:rPr lang="en-US" sz="1600" dirty="0"/>
              <a:t> </a:t>
            </a:r>
            <a:r>
              <a:rPr lang="en-US" sz="1600" dirty="0" err="1"/>
              <a:t>als</a:t>
            </a:r>
            <a:r>
              <a:rPr lang="en-US" sz="1600" dirty="0"/>
              <a:t> </a:t>
            </a:r>
            <a:r>
              <a:rPr lang="en-US" sz="1600" dirty="0" err="1"/>
              <a:t>potenzielle</a:t>
            </a:r>
            <a:r>
              <a:rPr lang="en-US" sz="1600" dirty="0"/>
              <a:t> </a:t>
            </a:r>
            <a:r>
              <a:rPr lang="en-US" sz="1600" dirty="0" err="1"/>
              <a:t>Personen</a:t>
            </a:r>
            <a:r>
              <a:rPr lang="en-US" sz="1600" dirty="0"/>
              <a:t> </a:t>
            </a:r>
            <a:r>
              <a:rPr lang="en-US" sz="1600" dirty="0" err="1"/>
              <a:t>erkannt</a:t>
            </a:r>
            <a:r>
              <a:rPr lang="en-US" sz="1600" dirty="0"/>
              <a:t>.</a:t>
            </a:r>
          </a:p>
          <a:p>
            <a:pPr marL="514350"/>
            <a:r>
              <a:rPr lang="en-US" sz="1600" dirty="0"/>
              <a:t>Die </a:t>
            </a:r>
            <a:r>
              <a:rPr lang="en-US" sz="1600" dirty="0" err="1"/>
              <a:t>reflektierte</a:t>
            </a:r>
            <a:r>
              <a:rPr lang="en-US" sz="1600" dirty="0"/>
              <a:t> </a:t>
            </a:r>
            <a:r>
              <a:rPr lang="en-US" sz="1600" dirty="0" err="1"/>
              <a:t>Signalstärke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 </a:t>
            </a:r>
            <a:r>
              <a:rPr lang="en-US" sz="1600" dirty="0" err="1"/>
              <a:t>gemessen</a:t>
            </a:r>
            <a:r>
              <a:rPr lang="en-US" sz="1600" dirty="0"/>
              <a:t> egal </a:t>
            </a:r>
            <a:r>
              <a:rPr lang="en-US" sz="1600" dirty="0" err="1"/>
              <a:t>ob</a:t>
            </a:r>
            <a:r>
              <a:rPr lang="en-US" sz="1600" dirty="0"/>
              <a:t> es von </a:t>
            </a:r>
            <a:r>
              <a:rPr lang="en-US" sz="1600" dirty="0" err="1"/>
              <a:t>einem</a:t>
            </a:r>
            <a:r>
              <a:rPr lang="en-US" sz="1600" dirty="0"/>
              <a:t> </a:t>
            </a:r>
            <a:r>
              <a:rPr lang="en-US" sz="1600" dirty="0" err="1"/>
              <a:t>Objekt</a:t>
            </a:r>
            <a:r>
              <a:rPr lang="en-US" sz="1600" dirty="0"/>
              <a:t> </a:t>
            </a:r>
            <a:r>
              <a:rPr lang="en-US" sz="1600" dirty="0" err="1"/>
              <a:t>oder</a:t>
            </a:r>
            <a:r>
              <a:rPr lang="en-US" sz="1600" dirty="0"/>
              <a:t> </a:t>
            </a:r>
            <a:r>
              <a:rPr lang="en-US" sz="1600" dirty="0" err="1"/>
              <a:t>einer</a:t>
            </a:r>
            <a:r>
              <a:rPr lang="en-US" sz="1600" dirty="0"/>
              <a:t> Person </a:t>
            </a:r>
            <a:r>
              <a:rPr lang="en-US" sz="1600" dirty="0" err="1"/>
              <a:t>kommt</a:t>
            </a:r>
            <a:r>
              <a:rPr lang="en-US" sz="1600" dirty="0"/>
              <a:t>. Der </a:t>
            </a:r>
            <a:r>
              <a:rPr lang="en-US" sz="1600" dirty="0" err="1"/>
              <a:t>Algorithmus</a:t>
            </a:r>
            <a:r>
              <a:rPr lang="en-US" sz="1600" dirty="0"/>
              <a:t> </a:t>
            </a:r>
            <a:r>
              <a:rPr lang="en-US" sz="1600" dirty="0" err="1"/>
              <a:t>analysiert</a:t>
            </a:r>
            <a:r>
              <a:rPr lang="en-US" sz="1600" dirty="0"/>
              <a:t> die </a:t>
            </a:r>
            <a:r>
              <a:rPr lang="en-US" sz="1600" dirty="0" err="1"/>
              <a:t>Änderung</a:t>
            </a:r>
            <a:r>
              <a:rPr lang="en-US" sz="1600" dirty="0"/>
              <a:t> der </a:t>
            </a:r>
            <a:r>
              <a:rPr lang="en-US" sz="1600" dirty="0" err="1"/>
              <a:t>reflektierten</a:t>
            </a:r>
            <a:r>
              <a:rPr lang="en-US" sz="1600" dirty="0"/>
              <a:t> Energie, </a:t>
            </a:r>
            <a:r>
              <a:rPr lang="en-US" sz="1600" dirty="0" err="1"/>
              <a:t>gruppiert</a:t>
            </a:r>
            <a:r>
              <a:rPr lang="en-US" sz="1600" dirty="0"/>
              <a:t> </a:t>
            </a:r>
            <a:r>
              <a:rPr lang="en-US" sz="1600" dirty="0" err="1"/>
              <a:t>Spatialbins</a:t>
            </a:r>
            <a:r>
              <a:rPr lang="en-US" sz="1600" dirty="0"/>
              <a:t> die </a:t>
            </a:r>
            <a:r>
              <a:rPr lang="en-US" sz="1600" dirty="0" err="1"/>
              <a:t>zu</a:t>
            </a:r>
            <a:r>
              <a:rPr lang="en-US" sz="1600" dirty="0"/>
              <a:t> </a:t>
            </a:r>
            <a:r>
              <a:rPr lang="en-US" sz="1600" dirty="0" err="1"/>
              <a:t>einem</a:t>
            </a:r>
            <a:r>
              <a:rPr lang="en-US" sz="1600" dirty="0"/>
              <a:t> </a:t>
            </a:r>
            <a:r>
              <a:rPr lang="en-US" sz="1600" dirty="0" err="1"/>
              <a:t>Objekt</a:t>
            </a:r>
            <a:r>
              <a:rPr lang="en-US" sz="1600" dirty="0"/>
              <a:t> </a:t>
            </a:r>
            <a:r>
              <a:rPr lang="en-US" sz="1600" dirty="0" err="1"/>
              <a:t>gehören</a:t>
            </a:r>
            <a:r>
              <a:rPr lang="en-US" sz="1600" dirty="0"/>
              <a:t> und </a:t>
            </a:r>
            <a:r>
              <a:rPr lang="en-US" sz="1600" dirty="0" err="1"/>
              <a:t>ermittelt</a:t>
            </a:r>
            <a:r>
              <a:rPr lang="en-US" sz="1600" dirty="0"/>
              <a:t> den </a:t>
            </a:r>
            <a:r>
              <a:rPr lang="en-US" sz="1600" dirty="0" err="1"/>
              <a:t>Mittelpunkt</a:t>
            </a:r>
            <a:r>
              <a:rPr lang="en-US" sz="1600" dirty="0"/>
              <a:t> der Gruppe.</a:t>
            </a:r>
          </a:p>
          <a:p>
            <a:pPr marL="514350"/>
            <a:r>
              <a:rPr lang="en-US" sz="1600" dirty="0" err="1">
                <a:solidFill>
                  <a:srgbClr val="FF0000"/>
                </a:solidFill>
              </a:rPr>
              <a:t>Jetzt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gehen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wir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jeden</a:t>
            </a:r>
            <a:r>
              <a:rPr lang="en-US" sz="1600" dirty="0">
                <a:solidFill>
                  <a:srgbClr val="FF0000"/>
                </a:solidFill>
              </a:rPr>
              <a:t> ROI Zelle (</a:t>
            </a:r>
            <a:r>
              <a:rPr lang="en-US" sz="1600" dirty="0" err="1">
                <a:solidFill>
                  <a:srgbClr val="FF0000"/>
                </a:solidFill>
              </a:rPr>
              <a:t>Spatialbin</a:t>
            </a:r>
            <a:r>
              <a:rPr lang="en-US" sz="1600" dirty="0">
                <a:solidFill>
                  <a:srgbClr val="FF0000"/>
                </a:solidFill>
              </a:rPr>
              <a:t>) </a:t>
            </a:r>
            <a:r>
              <a:rPr lang="en-US" sz="1600" dirty="0" err="1">
                <a:solidFill>
                  <a:srgbClr val="FF0000"/>
                </a:solidFill>
              </a:rPr>
              <a:t>durch</a:t>
            </a:r>
            <a:r>
              <a:rPr lang="en-US" sz="1600" dirty="0">
                <a:solidFill>
                  <a:srgbClr val="FF0000"/>
                </a:solidFill>
              </a:rPr>
              <a:t> und </a:t>
            </a:r>
            <a:r>
              <a:rPr lang="en-US" sz="1600" dirty="0" err="1">
                <a:solidFill>
                  <a:srgbClr val="FF0000"/>
                </a:solidFill>
              </a:rPr>
              <a:t>erzeugen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mithilfe</a:t>
            </a:r>
            <a:r>
              <a:rPr lang="en-US" sz="1600" dirty="0">
                <a:solidFill>
                  <a:srgbClr val="FF0000"/>
                </a:solidFill>
              </a:rPr>
              <a:t> von Beamforming </a:t>
            </a:r>
            <a:r>
              <a:rPr lang="en-US" sz="1600" dirty="0" err="1">
                <a:solidFill>
                  <a:srgbClr val="FF0000"/>
                </a:solidFill>
              </a:rPr>
              <a:t>ein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komplexes</a:t>
            </a:r>
            <a:r>
              <a:rPr lang="en-US" sz="1600" dirty="0">
                <a:solidFill>
                  <a:srgbClr val="FF0000"/>
                </a:solidFill>
              </a:rPr>
              <a:t> Slow Time Signal</a:t>
            </a:r>
            <a:r>
              <a:rPr lang="en-US" sz="1600" dirty="0"/>
              <a:t>. Die Phase dieses Signals </a:t>
            </a:r>
            <a:r>
              <a:rPr lang="en-US" sz="1600" dirty="0" err="1"/>
              <a:t>wird</a:t>
            </a:r>
            <a:r>
              <a:rPr lang="en-US" sz="1600" dirty="0"/>
              <a:t> in </a:t>
            </a:r>
            <a:r>
              <a:rPr lang="en-US" sz="1600" dirty="0" err="1"/>
              <a:t>einer</a:t>
            </a:r>
            <a:r>
              <a:rPr lang="en-US" sz="1600" dirty="0"/>
              <a:t> </a:t>
            </a:r>
            <a:r>
              <a:rPr lang="en-US" sz="1600" dirty="0" err="1"/>
              <a:t>Verschiebung</a:t>
            </a:r>
            <a:r>
              <a:rPr lang="en-US" sz="1600" dirty="0"/>
              <a:t> </a:t>
            </a:r>
            <a:r>
              <a:rPr lang="en-US" sz="1600" dirty="0" err="1"/>
              <a:t>umgewandelt</a:t>
            </a:r>
            <a:r>
              <a:rPr lang="en-US" sz="1600" dirty="0"/>
              <a:t>, es </a:t>
            </a:r>
            <a:r>
              <a:rPr lang="en-US" sz="1600" dirty="0" err="1"/>
              <a:t>wurde</a:t>
            </a:r>
            <a:r>
              <a:rPr lang="en-US" sz="1600" dirty="0"/>
              <a:t> </a:t>
            </a:r>
            <a:r>
              <a:rPr lang="en-US" sz="1600" dirty="0" err="1"/>
              <a:t>überprüft</a:t>
            </a:r>
            <a:r>
              <a:rPr lang="en-US" sz="1600" dirty="0"/>
              <a:t> </a:t>
            </a:r>
            <a:r>
              <a:rPr lang="en-US" sz="1600" dirty="0" err="1"/>
              <a:t>ob</a:t>
            </a:r>
            <a:r>
              <a:rPr lang="en-US" sz="1600" dirty="0"/>
              <a:t> die </a:t>
            </a:r>
            <a:r>
              <a:rPr lang="en-US" sz="1600" dirty="0" err="1"/>
              <a:t>Verschiebung</a:t>
            </a:r>
            <a:r>
              <a:rPr lang="en-US" sz="1600" dirty="0"/>
              <a:t> </a:t>
            </a:r>
            <a:r>
              <a:rPr lang="en-US" sz="1600" dirty="0" err="1"/>
              <a:t>im</a:t>
            </a:r>
            <a:r>
              <a:rPr lang="en-US" sz="1600" dirty="0"/>
              <a:t> </a:t>
            </a:r>
            <a:r>
              <a:rPr lang="en-US" sz="1600" dirty="0" err="1"/>
              <a:t>Frequenzbereich</a:t>
            </a:r>
            <a:r>
              <a:rPr lang="en-US" sz="1600" dirty="0"/>
              <a:t> von </a:t>
            </a:r>
            <a:r>
              <a:rPr lang="en-US" sz="1600" dirty="0" err="1"/>
              <a:t>Atembewegung</a:t>
            </a:r>
            <a:r>
              <a:rPr lang="en-US" sz="1600" dirty="0"/>
              <a:t> </a:t>
            </a:r>
            <a:r>
              <a:rPr lang="en-US" sz="1600" dirty="0" err="1"/>
              <a:t>ist</a:t>
            </a:r>
            <a:r>
              <a:rPr lang="en-US" sz="1600" dirty="0"/>
              <a:t>. Alle Zellen die </a:t>
            </a:r>
            <a:r>
              <a:rPr lang="en-US" sz="1600" dirty="0" err="1"/>
              <a:t>diesen</a:t>
            </a:r>
            <a:r>
              <a:rPr lang="en-US" sz="1600" dirty="0"/>
              <a:t> Test </a:t>
            </a:r>
            <a:r>
              <a:rPr lang="en-US" sz="1600" dirty="0" err="1"/>
              <a:t>bestehen</a:t>
            </a:r>
            <a:r>
              <a:rPr lang="en-US" sz="1600" dirty="0"/>
              <a:t>, </a:t>
            </a:r>
            <a:r>
              <a:rPr lang="en-US" sz="1600" dirty="0" err="1"/>
              <a:t>werden</a:t>
            </a:r>
            <a:r>
              <a:rPr lang="en-US" sz="1600" dirty="0"/>
              <a:t> Teil der Person, die </a:t>
            </a:r>
            <a:r>
              <a:rPr lang="en-US" sz="1600" dirty="0" err="1"/>
              <a:t>später</a:t>
            </a:r>
            <a:r>
              <a:rPr lang="en-US" sz="1600" dirty="0"/>
              <a:t> </a:t>
            </a:r>
            <a:r>
              <a:rPr lang="en-US" sz="1600" dirty="0" err="1"/>
              <a:t>analysiert</a:t>
            </a:r>
            <a:r>
              <a:rPr lang="en-US" sz="1600" dirty="0"/>
              <a:t> </a:t>
            </a:r>
            <a:r>
              <a:rPr lang="en-US" sz="1600" dirty="0" err="1"/>
              <a:t>wird</a:t>
            </a:r>
            <a:r>
              <a:rPr lang="en-US" sz="1600" dirty="0"/>
              <a:t>.</a:t>
            </a:r>
          </a:p>
          <a:p>
            <a:pPr marL="514350"/>
            <a:endParaRPr lang="en-US" sz="1600" dirty="0"/>
          </a:p>
          <a:p>
            <a:pPr marL="0"/>
            <a:endParaRPr lang="en-US" sz="160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C1BE1F4-9047-FF81-1C6E-D9473CC51A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946735" y="3068950"/>
            <a:ext cx="2590156" cy="346509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8A731E7-05E7-520B-4B00-8817580F96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13" b="16519"/>
          <a:stretch>
            <a:fillRect/>
          </a:stretch>
        </p:blipFill>
        <p:spPr>
          <a:xfrm>
            <a:off x="7874456" y="255020"/>
            <a:ext cx="2734714" cy="281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558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90F22-43AB-2D26-C2B2-CCA66C69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Reflexion mit Brustbewegung finden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0F4DB154-E53B-0A5B-8E31-4E8A9AD32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0734904"/>
              </p:ext>
            </p:extLst>
          </p:nvPr>
        </p:nvGraphicFramePr>
        <p:xfrm>
          <a:off x="838200" y="1825625"/>
          <a:ext cx="105156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615855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01804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Kriterium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Warum es wichtig 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88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Reflexionsstärke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Das Signal muss stark genug für eine zuverlässige Phasenverfolgung sein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510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Plausible Entfernung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Das Ziel sollte innerhalb der erwarteten Messdistanz liegen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99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Zeitliche Stabilität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Die Reflexion sollte über die Messdauer stabil bleiben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3774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Phasenqualität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Die Phase sollte kontinuierlich genug sein, um Bewegung zu extrahieren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035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Physiologischer Bewegungsanteil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Das Signal sollte periodische Komponenten im Atem- und Herzfrequenzbereich enthalten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967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Artefaktunterdrückung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Plötzliche große Bewegungen oder instabile Reflexionen sind weniger zuverlässig für die Vitalzeichenextraktion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621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470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7F9291-D582-B902-2538-13CBA0870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de-DE" sz="3800"/>
              <a:t>Die Reflexion mit Brustbewegung finden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3266FA-CCEF-2734-32CD-FC7952C57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DE" sz="1400" dirty="0">
                <a:solidFill>
                  <a:srgbClr val="FF0000"/>
                </a:solidFill>
              </a:rPr>
              <a:t>Objekt-/Personenerkennung</a:t>
            </a:r>
          </a:p>
          <a:p>
            <a:r>
              <a:rPr lang="de-DE" sz="1400" dirty="0">
                <a:solidFill>
                  <a:srgbClr val="FF0000"/>
                </a:solidFill>
              </a:rPr>
              <a:t>Das Radar empfängt Reflexionen von Personen und statischen Objekten</a:t>
            </a:r>
          </a:p>
          <a:p>
            <a:r>
              <a:rPr lang="de-DE" sz="1400" dirty="0">
                <a:solidFill>
                  <a:srgbClr val="FF0000"/>
                </a:solidFill>
              </a:rPr>
              <a:t>Statische Objekte sind oft starke Reflektoren, zeigen aber keine physiologische Bewegung</a:t>
            </a:r>
          </a:p>
          <a:p>
            <a:r>
              <a:rPr lang="de-DE" sz="1400" dirty="0">
                <a:solidFill>
                  <a:srgbClr val="FF0000"/>
                </a:solidFill>
              </a:rPr>
              <a:t>Der Algorithmus sucht nach Bereichen mit ausreichender Reflexionsstärke und nutzbarer Phasenstabilität</a:t>
            </a:r>
          </a:p>
          <a:p>
            <a:r>
              <a:rPr lang="de-DE" sz="1400" dirty="0">
                <a:solidFill>
                  <a:srgbClr val="FF0000"/>
                </a:solidFill>
              </a:rPr>
              <a:t>Kandidatenbereiche werden auf Bewegungsanteile in plausiblen Atem- und Herzfrequenzbändern geprüft</a:t>
            </a:r>
          </a:p>
          <a:p>
            <a:r>
              <a:rPr lang="de-DE" sz="1400" dirty="0"/>
              <a:t>Die ausgewählte Region </a:t>
            </a:r>
            <a:r>
              <a:rPr lang="de-DE" sz="1400" dirty="0" err="1"/>
              <a:t>of</a:t>
            </a:r>
            <a:r>
              <a:rPr lang="de-DE" sz="1400" dirty="0"/>
              <a:t> Interest sollte periodische Brustbewegung enthalten, nicht nur hohe Reflexionsleistung</a:t>
            </a:r>
          </a:p>
          <a:p>
            <a:r>
              <a:rPr lang="de-DE" sz="1400" dirty="0"/>
              <a:t>Korrekte Personenerkennung beeinflusst die finale Genauigkeit stark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15EEE8C-6F13-50DD-F400-F5BCC902D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982373"/>
            <a:ext cx="5458968" cy="2893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0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87CE0E-0C28-4443-1BCD-5681F2F7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Phasen -</a:t>
            </a:r>
            <a:r>
              <a:rPr lang="de-DE" dirty="0" err="1"/>
              <a:t>Unwrapping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C027ED-9F41-17D9-72A7-5F6C3EB4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Die ausgewählte Radarreflexion wird über die Zeit verfolgt</a:t>
            </a:r>
          </a:p>
          <a:p>
            <a:r>
              <a:rPr lang="de-DE" dirty="0"/>
              <a:t>Brustbewegung erscheint als Phasenänderung im Radarsignal</a:t>
            </a:r>
          </a:p>
          <a:p>
            <a:r>
              <a:rPr lang="de-DE" dirty="0"/>
              <a:t>Die gemessene Phase kann man sich als Bewegung auf einem Einheitskreis vorstellen</a:t>
            </a:r>
          </a:p>
          <a:p>
            <a:r>
              <a:rPr lang="de-DE" dirty="0">
                <a:solidFill>
                  <a:srgbClr val="156082"/>
                </a:solidFill>
              </a:rPr>
              <a:t>Wird diese kreisförmige Phase über die Zeit dargestellt, entsteht ein wellenförmiges Bewegungssignal</a:t>
            </a:r>
          </a:p>
          <a:p>
            <a:r>
              <a:rPr lang="de-DE" dirty="0">
                <a:solidFill>
                  <a:srgbClr val="156082"/>
                </a:solidFill>
              </a:rPr>
              <a:t>Phasen-</a:t>
            </a:r>
            <a:r>
              <a:rPr lang="de-DE" dirty="0" err="1">
                <a:solidFill>
                  <a:srgbClr val="156082"/>
                </a:solidFill>
              </a:rPr>
              <a:t>Wrapping</a:t>
            </a:r>
            <a:r>
              <a:rPr lang="de-DE" dirty="0">
                <a:solidFill>
                  <a:srgbClr val="156082"/>
                </a:solidFill>
              </a:rPr>
              <a:t> entsteht, wenn die Phase die Kreisgrenze überschreitet und von +π auf −π springt, oder umgekehrt</a:t>
            </a:r>
          </a:p>
          <a:p>
            <a:r>
              <a:rPr lang="de-DE" dirty="0">
                <a:solidFill>
                  <a:srgbClr val="156082"/>
                </a:solidFill>
              </a:rPr>
              <a:t>Phasen-</a:t>
            </a:r>
            <a:r>
              <a:rPr lang="de-DE" dirty="0" err="1">
                <a:solidFill>
                  <a:srgbClr val="156082"/>
                </a:solidFill>
              </a:rPr>
              <a:t>Unwrapping</a:t>
            </a:r>
            <a:r>
              <a:rPr lang="de-DE" dirty="0">
                <a:solidFill>
                  <a:srgbClr val="156082"/>
                </a:solidFill>
              </a:rPr>
              <a:t> entfernt diese künstlichen Sprünge</a:t>
            </a:r>
          </a:p>
          <a:p>
            <a:r>
              <a:rPr lang="de-DE" dirty="0"/>
              <a:t>Das Ergebnis ist ein kontinuierliches, verschiebungsähnliches Bewegungssignal über die Messdauer</a:t>
            </a:r>
          </a:p>
        </p:txBody>
      </p:sp>
    </p:spTree>
    <p:extLst>
      <p:ext uri="{BB962C8B-B14F-4D97-AF65-F5344CB8AC3E}">
        <p14:creationId xmlns:p14="http://schemas.microsoft.com/office/powerpoint/2010/main" val="1917119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4100" y="365125"/>
            <a:ext cx="10515600" cy="814875"/>
          </a:xfrm>
        </p:spPr>
        <p:txBody>
          <a:bodyPr/>
          <a:lstStyle/>
          <a:p>
            <a:r>
              <a:rPr lang="de-DE" dirty="0"/>
              <a:t>Filterungs-Pipeline der Vitalzeichen</a:t>
            </a:r>
          </a:p>
        </p:txBody>
      </p:sp>
      <p:sp>
        <p:nvSpPr>
          <p:cNvPr id="3" name="Untertitel"/>
          <p:cNvSpPr txBox="1"/>
          <p:nvPr/>
        </p:nvSpPr>
        <p:spPr>
          <a:xfrm>
            <a:off x="460000" y="1330000"/>
            <a:ext cx="11272000" cy="450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r>
              <a:rPr lang="de-DE" sz="1600" b="0">
                <a:solidFill>
                  <a:srgbClr val="156082"/>
                </a:solidFill>
              </a:rPr>
              <a:t>Angewendete Filtermethoden – vom Bewegungssignal zu bereinigten Bändern</a:t>
            </a:r>
          </a:p>
        </p:txBody>
      </p:sp>
      <p:sp>
        <p:nvSpPr>
          <p:cNvPr id="10" name="Eingang">
            <a:hlinkClick r:id="rId2" action="ppaction://hlinksldjump"/>
          </p:cNvPr>
          <p:cNvSpPr/>
          <p:nvPr/>
        </p:nvSpPr>
        <p:spPr>
          <a:xfrm>
            <a:off x="460000" y="3050000"/>
            <a:ext cx="1750000" cy="1500000"/>
          </a:xfrm>
          <a:prstGeom prst="roundRect">
            <a:avLst>
              <a:gd name="adj" fmla="val 8000"/>
            </a:avLst>
          </a:prstGeom>
          <a:solidFill>
            <a:srgbClr val="E4E7EA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300" b="1">
                <a:solidFill>
                  <a:srgbClr val="0E2841"/>
                </a:solidFill>
              </a:rPr>
              <a:t>Bewegungssignal</a:t>
            </a:r>
          </a:p>
          <a:p>
            <a:pPr algn="ctr"/>
            <a:r>
              <a:rPr lang="de-DE" sz="1000">
                <a:solidFill>
                  <a:srgbClr val="0E2841"/>
                </a:solidFill>
              </a:rPr>
              <a:t>mit Drift &amp; Rauschen</a:t>
            </a:r>
          </a:p>
        </p:txBody>
      </p:sp>
      <p:sp>
        <p:nvSpPr>
          <p:cNvPr id="11" name="Detrending"/>
          <p:cNvSpPr/>
          <p:nvPr/>
        </p:nvSpPr>
        <p:spPr>
          <a:xfrm>
            <a:off x="2817000" y="3050000"/>
            <a:ext cx="2450000" cy="1500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300" b="1">
                <a:solidFill>
                  <a:srgbClr val="FFFFFF"/>
                </a:solidFill>
              </a:rPr>
              <a:t>Moving-Average-Detrending</a:t>
            </a:r>
          </a:p>
          <a:p>
            <a:pPr algn="ctr"/>
            <a:r>
              <a:rPr lang="de-DE" sz="1000">
                <a:solidFill>
                  <a:srgbClr val="D6E7EE"/>
                </a:solidFill>
              </a:rPr>
              <a:t>entfernt langsame Basisliniendrift</a:t>
            </a:r>
          </a:p>
        </p:txBody>
      </p:sp>
      <p:sp>
        <p:nvSpPr>
          <p:cNvPr id="12" name="Atem-Bandpass"/>
          <p:cNvSpPr/>
          <p:nvPr/>
        </p:nvSpPr>
        <p:spPr>
          <a:xfrm>
            <a:off x="5874000" y="2250000"/>
            <a:ext cx="2800000" cy="1350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300" b="1">
                <a:solidFill>
                  <a:srgbClr val="FFFFFF"/>
                </a:solidFill>
              </a:rPr>
              <a:t>Atem-Bandpass</a:t>
            </a:r>
          </a:p>
          <a:p>
            <a:pPr algn="ctr"/>
            <a:r>
              <a:rPr lang="de-DE" sz="1000">
                <a:solidFill>
                  <a:srgbClr val="D6E7EE"/>
                </a:solidFill>
              </a:rPr>
              <a:t>0,10–0,60 Hz  ·  6–36 Atemzüge/min</a:t>
            </a:r>
          </a:p>
          <a:p>
            <a:pPr algn="ctr"/>
            <a:r>
              <a:rPr lang="de-DE" sz="900" i="1">
                <a:solidFill>
                  <a:srgbClr val="D6E7EE"/>
                </a:solidFill>
              </a:rPr>
              <a:t>Butterworth 4. Ordnung · nullphasig</a:t>
            </a:r>
          </a:p>
        </p:txBody>
      </p:sp>
      <p:sp>
        <p:nvSpPr>
          <p:cNvPr id="13" name="Herz-Bandpass"/>
          <p:cNvSpPr/>
          <p:nvPr/>
        </p:nvSpPr>
        <p:spPr>
          <a:xfrm>
            <a:off x="5874000" y="4000000"/>
            <a:ext cx="2800000" cy="1350000"/>
          </a:xfrm>
          <a:prstGeom prst="roundRect">
            <a:avLst>
              <a:gd name="adj" fmla="val 8000"/>
            </a:avLst>
          </a:prstGeom>
          <a:solidFill>
            <a:srgbClr val="156082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300" b="1">
                <a:solidFill>
                  <a:srgbClr val="FFFFFF"/>
                </a:solidFill>
              </a:rPr>
              <a:t>Herz-Bandpass</a:t>
            </a:r>
          </a:p>
          <a:p>
            <a:pPr algn="ctr"/>
            <a:r>
              <a:rPr lang="de-DE" sz="1000">
                <a:solidFill>
                  <a:srgbClr val="D6E7EE"/>
                </a:solidFill>
              </a:rPr>
              <a:t>0,80–2,00 Hz  ·  48–120 Schläge/min</a:t>
            </a:r>
          </a:p>
          <a:p>
            <a:pPr algn="ctr"/>
            <a:r>
              <a:rPr lang="de-DE" sz="900" i="1">
                <a:solidFill>
                  <a:srgbClr val="D6E7EE"/>
                </a:solidFill>
              </a:rPr>
              <a:t>Butterworth 4. Ordnung · nullphasig</a:t>
            </a:r>
          </a:p>
        </p:txBody>
      </p:sp>
      <p:sp>
        <p:nvSpPr>
          <p:cNvPr id="14" name="Atemband"/>
          <p:cNvSpPr/>
          <p:nvPr/>
        </p:nvSpPr>
        <p:spPr>
          <a:xfrm>
            <a:off x="9281000" y="2250000"/>
            <a:ext cx="2450000" cy="1350000"/>
          </a:xfrm>
          <a:prstGeom prst="roundRect">
            <a:avLst>
              <a:gd name="adj" fmla="val 8000"/>
            </a:avLst>
          </a:prstGeom>
          <a:solidFill>
            <a:srgbClr val="E4E7EA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300" b="1" dirty="0">
                <a:solidFill>
                  <a:srgbClr val="0E2841"/>
                </a:solidFill>
              </a:rPr>
              <a:t>Atembandsignal</a:t>
            </a:r>
          </a:p>
          <a:p>
            <a:pPr algn="ctr"/>
            <a:r>
              <a:rPr lang="de-DE" sz="1000" dirty="0">
                <a:solidFill>
                  <a:srgbClr val="0E2841"/>
                </a:solidFill>
              </a:rPr>
              <a:t>isoliert</a:t>
            </a:r>
          </a:p>
        </p:txBody>
      </p:sp>
      <p:sp>
        <p:nvSpPr>
          <p:cNvPr id="15" name="Herzband"/>
          <p:cNvSpPr/>
          <p:nvPr/>
        </p:nvSpPr>
        <p:spPr>
          <a:xfrm>
            <a:off x="9281000" y="4000000"/>
            <a:ext cx="2450000" cy="1350000"/>
          </a:xfrm>
          <a:prstGeom prst="roundRect">
            <a:avLst>
              <a:gd name="adj" fmla="val 8000"/>
            </a:avLst>
          </a:prstGeom>
          <a:solidFill>
            <a:srgbClr val="E4E7EA"/>
          </a:solidFill>
          <a:ln>
            <a:noFill/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300" b="1" dirty="0">
                <a:solidFill>
                  <a:srgbClr val="0E2841"/>
                </a:solidFill>
              </a:rPr>
              <a:t>Herzbandsignal</a:t>
            </a:r>
          </a:p>
          <a:p>
            <a:pPr algn="ctr"/>
            <a:r>
              <a:rPr lang="de-DE" sz="1000" dirty="0">
                <a:solidFill>
                  <a:srgbClr val="0E2841"/>
                </a:solidFill>
              </a:rPr>
              <a:t>isoliert</a:t>
            </a:r>
          </a:p>
        </p:txBody>
      </p:sp>
      <p:sp>
        <p:nvSpPr>
          <p:cNvPr id="20" name="Pfeil"/>
          <p:cNvSpPr/>
          <p:nvPr/>
        </p:nvSpPr>
        <p:spPr>
          <a:xfrm>
            <a:off x="2363500" y="3620000"/>
            <a:ext cx="300000" cy="36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Pfeil"/>
          <p:cNvSpPr/>
          <p:nvPr/>
        </p:nvSpPr>
        <p:spPr>
          <a:xfrm>
            <a:off x="5420500" y="3620000"/>
            <a:ext cx="300000" cy="36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2" name="Pfeil"/>
          <p:cNvSpPr/>
          <p:nvPr/>
        </p:nvSpPr>
        <p:spPr>
          <a:xfrm>
            <a:off x="8827500" y="2745000"/>
            <a:ext cx="300000" cy="36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3" name="Pfeil"/>
          <p:cNvSpPr/>
          <p:nvPr/>
        </p:nvSpPr>
        <p:spPr>
          <a:xfrm>
            <a:off x="8827500" y="4495000"/>
            <a:ext cx="300000" cy="360000"/>
          </a:xfrm>
          <a:prstGeom prst="rightArrow">
            <a:avLst/>
          </a:prstGeom>
          <a:solidFill>
            <a:srgbClr val="9DB4C0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Glaettung"/>
          <p:cNvSpPr/>
          <p:nvPr/>
        </p:nvSpPr>
        <p:spPr>
          <a:xfrm>
            <a:off x="460000" y="5620000"/>
            <a:ext cx="11272000" cy="830000"/>
          </a:xfrm>
          <a:prstGeom prst="roundRect">
            <a:avLst>
              <a:gd name="adj" fmla="val 10000"/>
            </a:avLst>
          </a:prstGeom>
          <a:solidFill>
            <a:srgbClr val="EDF3F5"/>
          </a:solidFill>
          <a:ln w="12700">
            <a:solidFill>
              <a:srgbClr val="156082"/>
            </a:solidFill>
          </a:ln>
        </p:spPr>
        <p:txBody>
          <a:bodyPr wrap="square" lIns="72000" tIns="36000" rIns="72000" bIns="36000" anchor="ctr">
            <a:normAutofit/>
          </a:bodyPr>
          <a:lstStyle/>
          <a:p>
            <a:pPr algn="ctr"/>
            <a:r>
              <a:rPr lang="de-DE" sz="1150" b="1">
                <a:solidFill>
                  <a:srgbClr val="156082"/>
                </a:solidFill>
              </a:rPr>
              <a:t>Anzeige-Stabilisierung der Verläufe:  Medianfilterung  ·  Sprungbegrenzung  ·  exponentielle Glättung</a:t>
            </a:r>
          </a:p>
        </p:txBody>
      </p:sp>
    </p:spTree>
    <p:extLst>
      <p:ext uri="{BB962C8B-B14F-4D97-AF65-F5344CB8AC3E}">
        <p14:creationId xmlns:p14="http://schemas.microsoft.com/office/powerpoint/2010/main" val="390016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5F6E42-73A8-27C9-2F7A-90ED2296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Atmung, Herzschlag und Rauschen trennen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646A6E-26E7-3094-8671-44083843EC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2000" dirty="0">
                <a:solidFill>
                  <a:srgbClr val="000000"/>
                </a:solidFill>
              </a:rPr>
              <a:t>Das </a:t>
            </a:r>
            <a:r>
              <a:rPr sz="2000" dirty="0" err="1">
                <a:solidFill>
                  <a:srgbClr val="000000"/>
                </a:solidFill>
              </a:rPr>
              <a:t>extrahierte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Bewegungssignal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enthält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weiterhin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b="1" dirty="0">
                <a:solidFill>
                  <a:srgbClr val="000000"/>
                </a:solidFill>
              </a:rPr>
              <a:t>Drift, </a:t>
            </a:r>
            <a:r>
              <a:rPr sz="2000" b="1" dirty="0" err="1">
                <a:solidFill>
                  <a:srgbClr val="000000"/>
                </a:solidFill>
              </a:rPr>
              <a:t>Rauschen</a:t>
            </a:r>
            <a:r>
              <a:rPr sz="2000" b="1" dirty="0">
                <a:solidFill>
                  <a:srgbClr val="000000"/>
                </a:solidFill>
              </a:rPr>
              <a:t>, </a:t>
            </a:r>
            <a:r>
              <a:rPr sz="2000" b="1" dirty="0" err="1">
                <a:solidFill>
                  <a:srgbClr val="000000"/>
                </a:solidFill>
              </a:rPr>
              <a:t>Artefakte</a:t>
            </a:r>
            <a:r>
              <a:rPr sz="2000" b="1" dirty="0">
                <a:solidFill>
                  <a:srgbClr val="000000"/>
                </a:solidFill>
              </a:rPr>
              <a:t>, </a:t>
            </a:r>
            <a:r>
              <a:rPr sz="2000" b="1" dirty="0" err="1">
                <a:solidFill>
                  <a:srgbClr val="000000"/>
                </a:solidFill>
              </a:rPr>
              <a:t>Atmung</a:t>
            </a:r>
            <a:r>
              <a:rPr sz="2000" b="1" dirty="0">
                <a:solidFill>
                  <a:srgbClr val="000000"/>
                </a:solidFill>
              </a:rPr>
              <a:t> und </a:t>
            </a:r>
            <a:r>
              <a:rPr sz="2000" b="1" dirty="0" err="1">
                <a:solidFill>
                  <a:srgbClr val="000000"/>
                </a:solidFill>
              </a:rPr>
              <a:t>Herzschlaganteile</a:t>
            </a:r>
            <a:endParaRPr sz="2000" b="1" dirty="0">
              <a:solidFill>
                <a:srgbClr val="000000"/>
              </a:solidFill>
            </a:endParaRPr>
          </a:p>
          <a:p>
            <a:r>
              <a:rPr sz="2000" dirty="0" err="1">
                <a:solidFill>
                  <a:srgbClr val="000000"/>
                </a:solidFill>
              </a:rPr>
              <a:t>Langsame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Basisliniendrift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wird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mit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einem</a:t>
            </a:r>
            <a:r>
              <a:rPr sz="2000" dirty="0">
                <a:solidFill>
                  <a:srgbClr val="000000"/>
                </a:solidFill>
              </a:rPr>
              <a:t> Moving-Average-Detrending </a:t>
            </a:r>
            <a:r>
              <a:rPr sz="2000" dirty="0" err="1">
                <a:solidFill>
                  <a:srgbClr val="000000"/>
                </a:solidFill>
              </a:rPr>
              <a:t>reduziert</a:t>
            </a:r>
            <a:endParaRPr sz="2000" dirty="0">
              <a:solidFill>
                <a:srgbClr val="000000"/>
              </a:solidFill>
            </a:endParaRPr>
          </a:p>
          <a:p>
            <a:r>
              <a:rPr lang="de-DE" sz="2000" dirty="0">
                <a:solidFill>
                  <a:srgbClr val="156082"/>
                </a:solidFill>
              </a:rPr>
              <a:t>Atem-Bandpassfilter: 0,10–0,60 Hz ≈ 6–36 Atemzüge/min</a:t>
            </a:r>
          </a:p>
          <a:p>
            <a:r>
              <a:rPr lang="de-DE" sz="2000" dirty="0">
                <a:solidFill>
                  <a:srgbClr val="156082"/>
                </a:solidFill>
              </a:rPr>
              <a:t>Herzfrequenz-Bandpassfilter: 0,80–2,00 Hz ≈ 48–120 Schläge/min</a:t>
            </a:r>
          </a:p>
          <a:p>
            <a:r>
              <a:rPr lang="de-DE" sz="2000" dirty="0">
                <a:solidFill>
                  <a:srgbClr val="156082"/>
                </a:solidFill>
              </a:rPr>
              <a:t>Beide Signale werden mit einem Butterworth-Bandpassfilter 4. Ordnung mit Nullphasenfilterung isoliert</a:t>
            </a:r>
          </a:p>
          <a:p>
            <a:r>
              <a:rPr sz="2000" dirty="0" err="1">
                <a:solidFill>
                  <a:srgbClr val="000000"/>
                </a:solidFill>
              </a:rPr>
              <a:t>Nullphasenfilterung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vermeidet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eine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zeitliche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Verschiebung</a:t>
            </a:r>
            <a:r>
              <a:rPr sz="2000" dirty="0">
                <a:solidFill>
                  <a:srgbClr val="000000"/>
                </a:solidFill>
              </a:rPr>
              <a:t> des </a:t>
            </a:r>
            <a:r>
              <a:rPr sz="2000" dirty="0" err="1">
                <a:solidFill>
                  <a:srgbClr val="000000"/>
                </a:solidFill>
              </a:rPr>
              <a:t>Bewegungssignals</a:t>
            </a:r>
            <a:endParaRPr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sz="2000" dirty="0" err="1">
                <a:solidFill>
                  <a:srgbClr val="000000"/>
                </a:solidFill>
              </a:rPr>
              <a:t>Ergebnis</a:t>
            </a:r>
            <a:r>
              <a:rPr sz="2000" dirty="0">
                <a:solidFill>
                  <a:srgbClr val="000000"/>
                </a:solidFill>
              </a:rPr>
              <a:t> dieses </a:t>
            </a:r>
            <a:r>
              <a:rPr sz="2000" dirty="0" err="1">
                <a:solidFill>
                  <a:srgbClr val="000000"/>
                </a:solidFill>
              </a:rPr>
              <a:t>Schritts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sind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zwei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bereinigte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dirty="0" err="1">
                <a:solidFill>
                  <a:srgbClr val="000000"/>
                </a:solidFill>
              </a:rPr>
              <a:t>Signale</a:t>
            </a:r>
            <a:r>
              <a:rPr sz="2000" dirty="0">
                <a:solidFill>
                  <a:srgbClr val="000000"/>
                </a:solidFill>
              </a:rPr>
              <a:t>: </a:t>
            </a:r>
            <a:r>
              <a:rPr sz="2000" dirty="0" err="1">
                <a:solidFill>
                  <a:srgbClr val="000000"/>
                </a:solidFill>
              </a:rPr>
              <a:t>ein</a:t>
            </a:r>
            <a:r>
              <a:rPr sz="2000" b="1" dirty="0">
                <a:solidFill>
                  <a:srgbClr val="000000"/>
                </a:solidFill>
              </a:rPr>
              <a:t> </a:t>
            </a:r>
            <a:r>
              <a:rPr sz="2000" b="1" dirty="0" err="1">
                <a:solidFill>
                  <a:srgbClr val="000000"/>
                </a:solidFill>
              </a:rPr>
              <a:t>Atembandsignal</a:t>
            </a:r>
            <a:r>
              <a:rPr sz="2000" b="1" dirty="0">
                <a:solidFill>
                  <a:srgbClr val="000000"/>
                </a:solidFill>
              </a:rPr>
              <a:t> </a:t>
            </a:r>
            <a:r>
              <a:rPr sz="2000" dirty="0">
                <a:solidFill>
                  <a:srgbClr val="000000"/>
                </a:solidFill>
              </a:rPr>
              <a:t>und </a:t>
            </a:r>
            <a:r>
              <a:rPr sz="2000" dirty="0" err="1">
                <a:solidFill>
                  <a:srgbClr val="000000"/>
                </a:solidFill>
              </a:rPr>
              <a:t>ein</a:t>
            </a:r>
            <a:r>
              <a:rPr sz="2000" dirty="0">
                <a:solidFill>
                  <a:srgbClr val="000000"/>
                </a:solidFill>
              </a:rPr>
              <a:t> </a:t>
            </a:r>
            <a:r>
              <a:rPr sz="2000" b="1" dirty="0" err="1">
                <a:solidFill>
                  <a:srgbClr val="000000"/>
                </a:solidFill>
              </a:rPr>
              <a:t>Herzbandsignal</a:t>
            </a:r>
            <a:endParaRPr sz="2000" b="1" dirty="0">
              <a:solidFill>
                <a:srgbClr val="000000"/>
              </a:solidFill>
            </a:endParaRP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6D235098-4CCD-D7BA-9707-7EE9E6A905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199" y="2286000"/>
            <a:ext cx="5689817" cy="3149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40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CA45A9-5CD6-4F63-8791-75B8177C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 2: Filterfrequenzbänder und Parameter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29F9A5-621A-65C7-A563-7F5F421E9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Warum diese Signalbereiche gewählt wurden</a:t>
            </a:r>
          </a:p>
          <a:p>
            <a:r>
              <a:rPr lang="de-DE" dirty="0"/>
              <a:t>Atmung erscheint in einem niedrigeren Bewegungsfrequenzband</a:t>
            </a:r>
          </a:p>
          <a:p>
            <a:r>
              <a:rPr lang="de-DE" dirty="0"/>
              <a:t>Herzschlag erscheint in einem höheren Bewegungsfrequenzband</a:t>
            </a:r>
          </a:p>
          <a:p>
            <a:r>
              <a:rPr lang="de-DE" dirty="0"/>
              <a:t>Bandpassfilter unterdrücken Drift, Rauschen und irrelevante Bewegungen</a:t>
            </a:r>
          </a:p>
          <a:p>
            <a:r>
              <a:rPr lang="de-DE" dirty="0"/>
              <a:t>Filterbereiche werden anhand plausibler physiologischer Frequenzen ausgewählt</a:t>
            </a:r>
          </a:p>
          <a:p>
            <a:r>
              <a:rPr lang="de-DE" dirty="0"/>
              <a:t>Parameterwahl beeinflusst Empfindlichkeit und Fehlerrate</a:t>
            </a:r>
          </a:p>
        </p:txBody>
      </p:sp>
    </p:spTree>
    <p:extLst>
      <p:ext uri="{BB962C8B-B14F-4D97-AF65-F5344CB8AC3E}">
        <p14:creationId xmlns:p14="http://schemas.microsoft.com/office/powerpoint/2010/main" val="1910507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75242D-7BE8-484B-B336-176CA187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Gefilterte Signale in Vitalzeichen umwandeln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7952A9-AE87-310F-D226-422AE1531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dirty="0"/>
              <a:t>Signalanalyse und Frequenzschätzung</a:t>
            </a:r>
          </a:p>
          <a:p>
            <a:r>
              <a:rPr lang="de-DE" dirty="0"/>
              <a:t>Die gefilterten Atem- und Herzbandsignale werden im Frequenzbereich analysiert</a:t>
            </a:r>
          </a:p>
          <a:p>
            <a:r>
              <a:rPr lang="de-DE" dirty="0"/>
              <a:t>Die FFT identifiziert dominante periodische Bewegungsanteile über die Messdauer</a:t>
            </a:r>
          </a:p>
          <a:p>
            <a:r>
              <a:rPr lang="de-DE" dirty="0"/>
              <a:t>Die Atemfrequenz wird aus dem stärksten plausiblen Peak im </a:t>
            </a:r>
            <a:r>
              <a:rPr lang="de-DE" dirty="0" err="1"/>
              <a:t>Atemband</a:t>
            </a:r>
            <a:r>
              <a:rPr lang="de-DE" dirty="0"/>
              <a:t> ausgewählt</a:t>
            </a:r>
          </a:p>
          <a:p>
            <a:r>
              <a:rPr lang="de-DE" dirty="0"/>
              <a:t>Die Herzfrequenzschätzung bewertet mehrere Kandidatenpeaks, nicht nur den größten Peak</a:t>
            </a:r>
          </a:p>
          <a:p>
            <a:r>
              <a:rPr lang="de-DE" dirty="0">
                <a:solidFill>
                  <a:srgbClr val="156082"/>
                </a:solidFill>
              </a:rPr>
              <a:t>Peaks nahe an Atemharmonischen werden bestraft, besonders nahe der 2. und 3. Harmonischen</a:t>
            </a:r>
          </a:p>
          <a:p>
            <a:r>
              <a:rPr lang="de-DE" dirty="0"/>
              <a:t>Kandidatenpeaks werden anhand von Signalstärke, physiologischer Plausibilität und Abstand zu Harmonischen bewertet.</a:t>
            </a:r>
          </a:p>
          <a:p>
            <a:r>
              <a:rPr lang="de-DE" dirty="0"/>
              <a:t>Die ausgewählten Frequenzen werden in Atemzüge/min und Schläge/min umgerechnet</a:t>
            </a:r>
          </a:p>
          <a:p>
            <a:r>
              <a:rPr lang="de-DE" dirty="0"/>
              <a:t>Angezeigte Verläufe werden mit Medianfilterung, Sprungbegrenzung und exponentieller Glättung stabilisiert</a:t>
            </a:r>
          </a:p>
        </p:txBody>
      </p:sp>
    </p:spTree>
    <p:extLst>
      <p:ext uri="{BB962C8B-B14F-4D97-AF65-F5344CB8AC3E}">
        <p14:creationId xmlns:p14="http://schemas.microsoft.com/office/powerpoint/2010/main" val="3517491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809CF5B-787B-0ECB-191C-0BEB1C49D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de-DE" sz="3700"/>
              <a:t>Validierung und Genauigkeitsergebnisse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AC3C54-BE5F-80D2-232F-46931A797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798" y="2160852"/>
            <a:ext cx="70356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/>
              <a:t>Überprüfung der Pipeline-Genauigkeit</a:t>
            </a:r>
          </a:p>
          <a:p>
            <a:r>
              <a:rPr lang="de-DE" sz="1800" dirty="0"/>
              <a:t>Aufgezeichnete Radarmessungen wurden mit der finalen Python-Pipeline verarbeitet</a:t>
            </a:r>
          </a:p>
          <a:p>
            <a:r>
              <a:rPr lang="de-DE" sz="1800" dirty="0">
                <a:solidFill>
                  <a:srgbClr val="FF0000"/>
                </a:solidFill>
              </a:rPr>
              <a:t>Geschätzte Atem- und Herzfrequenzen wurden mit unabhängigen Referenzmessungen verglichen</a:t>
            </a:r>
          </a:p>
          <a:p>
            <a:r>
              <a:rPr lang="de-DE" sz="1800" dirty="0"/>
              <a:t>Die Genauigkeit wurde über die vollständige Messdauer bewertet</a:t>
            </a:r>
          </a:p>
          <a:p>
            <a:r>
              <a:rPr lang="de-DE" sz="1800" dirty="0"/>
              <a:t>Die Atemfrequenzschätzung zeigte eine höhere Stabilität als die Herzfrequenzschätzung</a:t>
            </a:r>
          </a:p>
          <a:p>
            <a:r>
              <a:rPr lang="de-DE" sz="1800" dirty="0"/>
              <a:t>Die Herzfrequenzgenauigkeit wurde stärker durch Bewegungsartefakte und schwache Signalamplitude beeinflusst</a:t>
            </a:r>
          </a:p>
        </p:txBody>
      </p:sp>
      <p:sp>
        <p:nvSpPr>
          <p:cNvPr id="16" name="Oval 11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2E45D00-9FA0-07A5-F052-0933932E4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3741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14" name="Arc 13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7322F3B-8547-D80C-9975-5CB6EA37F2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42" r="4" b="12557"/>
          <a:stretch>
            <a:fillRect/>
          </a:stretch>
        </p:blipFill>
        <p:spPr>
          <a:xfrm>
            <a:off x="8633519" y="167418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3302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D70738-7535-A317-928C-565256BF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81022"/>
            <a:ext cx="10515600" cy="1325563"/>
          </a:xfrm>
        </p:spPr>
        <p:txBody>
          <a:bodyPr>
            <a:normAutofit/>
          </a:bodyPr>
          <a:lstStyle/>
          <a:p>
            <a:r>
              <a:rPr lang="de-DE" sz="2800" dirty="0"/>
              <a:t>Validierung und Genauigkeitsergebnisse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BB12A210-EAD2-46C8-976E-0279CD37F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707105"/>
              </p:ext>
            </p:extLst>
          </p:nvPr>
        </p:nvGraphicFramePr>
        <p:xfrm>
          <a:off x="411481" y="1203008"/>
          <a:ext cx="10942320" cy="399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3194801406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1809379002"/>
                    </a:ext>
                  </a:extLst>
                </a:gridCol>
                <a:gridCol w="1203960">
                  <a:extLst>
                    <a:ext uri="{9D8B030D-6E8A-4147-A177-3AD203B41FA5}">
                      <a16:colId xmlns:a16="http://schemas.microsoft.com/office/drawing/2014/main" val="2066541574"/>
                    </a:ext>
                  </a:extLst>
                </a:gridCol>
                <a:gridCol w="3180080">
                  <a:extLst>
                    <a:ext uri="{9D8B030D-6E8A-4147-A177-3AD203B41FA5}">
                      <a16:colId xmlns:a16="http://schemas.microsoft.com/office/drawing/2014/main" val="1354641942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3203503527"/>
                    </a:ext>
                  </a:extLst>
                </a:gridCol>
                <a:gridCol w="1823720">
                  <a:extLst>
                    <a:ext uri="{9D8B030D-6E8A-4147-A177-3AD203B41FA5}">
                      <a16:colId xmlns:a16="http://schemas.microsoft.com/office/drawing/2014/main" val="753343319"/>
                    </a:ext>
                  </a:extLst>
                </a:gridCol>
              </a:tblGrid>
              <a:tr h="6640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Anzahl der gemessenen Subjekten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Subjekt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Validierungs-Herzfrequenz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Berechnete Herzfrequenz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Berechnete Atemfrequenz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726533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Test 2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Nuria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64,72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60,2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23,9 /min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66536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Test 3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Nuria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64,71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64,7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27,8 /min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46591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Test 5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Nuria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63,17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62,3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19,1 /min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419894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Test 6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Nuria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61,70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62,9 bpm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17,6 /min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807884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Test 8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Fatemeh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80,60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80,8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18,2 /min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69428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Test 9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Fatemeh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83,27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82,6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20,6 /min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10761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Test 10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Fatemeh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82,90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82,9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19,9 /min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880136"/>
                  </a:ext>
                </a:extLst>
              </a:tr>
              <a:tr h="3847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Test 12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/>
                        <a:t>1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Fatemeh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79,14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77,5 bpm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dirty="0"/>
                        <a:t>19,3 /min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86777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1" y="5576649"/>
            <a:ext cx="92354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dirty="0"/>
              <a:t>Zusammenfassung - Herzfrequenzfehler: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 Mittlerer absoluter Fehler: 1,14 bpm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Median: 0,77 bpm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dirty="0"/>
              <a:t>Maximum: 4,52 bpm.</a:t>
            </a:r>
          </a:p>
        </p:txBody>
      </p:sp>
    </p:spTree>
    <p:extLst>
      <p:ext uri="{BB962C8B-B14F-4D97-AF65-F5344CB8AC3E}">
        <p14:creationId xmlns:p14="http://schemas.microsoft.com/office/powerpoint/2010/main" val="1272886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B335CAB6-EE79-2AA8-4D6F-551DDF473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204"/>
          <a:stretch>
            <a:fillRect/>
          </a:stretch>
        </p:blipFill>
        <p:spPr>
          <a:xfrm>
            <a:off x="636821" y="358781"/>
            <a:ext cx="10918357" cy="61404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90038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F3D1F1-A91C-C708-9172-7A5D9ECA6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Ausgabe, Grenzen und 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21ABF4-CDFC-FF86-5919-825F840D1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/>
              <a:t>Finales Ergebnis der Pipeline</a:t>
            </a:r>
          </a:p>
          <a:p>
            <a:r>
              <a:rPr lang="de-DE" dirty="0"/>
              <a:t>Atemerkennung ist robuster als Herzfrequenzerkennung</a:t>
            </a:r>
          </a:p>
          <a:p>
            <a:r>
              <a:rPr lang="de-DE" dirty="0"/>
              <a:t>Hauptgrenzen: Bewegungsartefakte, Hintergrundreflexionen und schwaches Herzschlagsignal</a:t>
            </a:r>
          </a:p>
          <a:p>
            <a:r>
              <a:rPr lang="de-DE" dirty="0"/>
              <a:t>Zukünftige Arbeit: stärkere Referenzvalidierung, verbessertes Personentracking und bessere Artefakt Unterdrückung</a:t>
            </a:r>
          </a:p>
        </p:txBody>
      </p:sp>
    </p:spTree>
    <p:extLst>
      <p:ext uri="{BB962C8B-B14F-4D97-AF65-F5344CB8AC3E}">
        <p14:creationId xmlns:p14="http://schemas.microsoft.com/office/powerpoint/2010/main" val="676345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600" dirty="0"/>
              <a:t>Quellen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45720" rIns="45720"/>
          <a:lstStyle/>
          <a:p>
            <a:r>
              <a:rPr lang="de-DE" sz="1600">
                <a:solidFill>
                  <a:srgbClr val="156082"/>
                </a:solidFill>
              </a:rPr>
              <a:t>Texas Instruments: IWR1843 Single-Chip 76–81 GHz FMCW </a:t>
            </a:r>
            <a:r>
              <a:rPr lang="de-DE" sz="1600" err="1">
                <a:solidFill>
                  <a:srgbClr val="156082"/>
                </a:solidFill>
              </a:rPr>
              <a:t>mmWave</a:t>
            </a:r>
            <a:r>
              <a:rPr lang="de-DE" sz="1600">
                <a:solidFill>
                  <a:srgbClr val="156082"/>
                </a:solidFill>
              </a:rPr>
              <a:t> Sensor, </a:t>
            </a:r>
            <a:r>
              <a:rPr lang="de-DE" sz="1600" err="1">
                <a:solidFill>
                  <a:srgbClr val="156082"/>
                </a:solidFill>
              </a:rPr>
              <a:t>Produktseite</a:t>
            </a:r>
            <a:r>
              <a:rPr lang="de-DE" sz="1600">
                <a:solidFill>
                  <a:srgbClr val="156082"/>
                </a:solidFill>
              </a:rPr>
              <a:t>/</a:t>
            </a:r>
            <a:r>
              <a:rPr lang="de-DE" sz="1600" err="1">
                <a:solidFill>
                  <a:srgbClr val="156082"/>
                </a:solidFill>
              </a:rPr>
              <a:t>Datenblatt</a:t>
            </a:r>
            <a:r>
              <a:rPr lang="de-DE" sz="1600">
                <a:solidFill>
                  <a:srgbClr val="156082"/>
                </a:solidFill>
              </a:rPr>
              <a:t>.</a:t>
            </a:r>
          </a:p>
          <a:p>
            <a:r>
              <a:rPr lang="de-DE" sz="1600">
                <a:solidFill>
                  <a:srgbClr val="156082"/>
                </a:solidFill>
              </a:rPr>
              <a:t>Texas Instruments: MMWAVE-STUDIO – Tool </a:t>
            </a:r>
            <a:r>
              <a:rPr lang="de-DE" sz="1600" err="1">
                <a:solidFill>
                  <a:srgbClr val="156082"/>
                </a:solidFill>
              </a:rPr>
              <a:t>zur</a:t>
            </a:r>
            <a:r>
              <a:rPr lang="de-DE" sz="1600">
                <a:solidFill>
                  <a:srgbClr val="156082"/>
                </a:solidFill>
              </a:rPr>
              <a:t> </a:t>
            </a:r>
            <a:r>
              <a:rPr lang="de-DE" sz="1600" err="1">
                <a:solidFill>
                  <a:srgbClr val="156082"/>
                </a:solidFill>
              </a:rPr>
              <a:t>Radarkonfiguration</a:t>
            </a:r>
            <a:r>
              <a:rPr lang="de-DE" sz="1600">
                <a:solidFill>
                  <a:srgbClr val="156082"/>
                </a:solidFill>
              </a:rPr>
              <a:t> und ADC-</a:t>
            </a:r>
            <a:r>
              <a:rPr lang="de-DE" sz="1600" err="1">
                <a:solidFill>
                  <a:srgbClr val="156082"/>
                </a:solidFill>
              </a:rPr>
              <a:t>Datenerfassung</a:t>
            </a:r>
            <a:r>
              <a:rPr lang="de-DE" sz="1600">
                <a:solidFill>
                  <a:srgbClr val="156082"/>
                </a:solidFill>
              </a:rPr>
              <a:t>.</a:t>
            </a:r>
          </a:p>
          <a:p>
            <a:r>
              <a:rPr lang="de-DE" sz="1600">
                <a:solidFill>
                  <a:srgbClr val="156082"/>
                </a:solidFill>
              </a:rPr>
              <a:t>Texas Instruments: DCA1000EVM – </a:t>
            </a:r>
            <a:r>
              <a:rPr lang="de-DE" sz="1600" err="1">
                <a:solidFill>
                  <a:srgbClr val="156082"/>
                </a:solidFill>
              </a:rPr>
              <a:t>Echtzeit-Datenerfassung</a:t>
            </a:r>
            <a:r>
              <a:rPr lang="de-DE" sz="1600">
                <a:solidFill>
                  <a:srgbClr val="156082"/>
                </a:solidFill>
              </a:rPr>
              <a:t> und LVDS-Streaming für AWR/IWR-</a:t>
            </a:r>
            <a:r>
              <a:rPr lang="de-DE" sz="1600" err="1">
                <a:solidFill>
                  <a:srgbClr val="156082"/>
                </a:solidFill>
              </a:rPr>
              <a:t>Radarsensoren</a:t>
            </a:r>
            <a:r>
              <a:rPr lang="de-DE" sz="1600">
                <a:solidFill>
                  <a:srgbClr val="156082"/>
                </a:solidFill>
              </a:rPr>
              <a:t>.</a:t>
            </a:r>
          </a:p>
          <a:p>
            <a:r>
              <a:rPr lang="de-DE" sz="1600">
                <a:solidFill>
                  <a:srgbClr val="156082"/>
                </a:solidFill>
              </a:rPr>
              <a:t>Texas Instruments: </a:t>
            </a:r>
            <a:r>
              <a:rPr lang="de-DE" sz="1600" err="1">
                <a:solidFill>
                  <a:srgbClr val="156082"/>
                </a:solidFill>
              </a:rPr>
              <a:t>mmWave</a:t>
            </a:r>
            <a:r>
              <a:rPr lang="de-DE" sz="1600">
                <a:solidFill>
                  <a:srgbClr val="156082"/>
                </a:solidFill>
              </a:rPr>
              <a:t> Radar Device ADC Raw Data Capture / </a:t>
            </a:r>
            <a:r>
              <a:rPr lang="de-DE" sz="1600" err="1">
                <a:solidFill>
                  <a:srgbClr val="156082"/>
                </a:solidFill>
              </a:rPr>
              <a:t>mmWave</a:t>
            </a:r>
            <a:r>
              <a:rPr lang="de-DE" sz="1600">
                <a:solidFill>
                  <a:srgbClr val="156082"/>
                </a:solidFill>
              </a:rPr>
              <a:t> Sensor Raw Data Capture Using the DCA1000.</a:t>
            </a:r>
          </a:p>
          <a:p>
            <a:r>
              <a:rPr lang="de-DE" sz="1600">
                <a:solidFill>
                  <a:srgbClr val="156082"/>
                </a:solidFill>
              </a:rPr>
              <a:t>Zhang et al.: Pi-ViMo: Physiology-inspired Robust Vital Sign Monitoring using </a:t>
            </a:r>
            <a:r>
              <a:rPr lang="de-DE" sz="1600" err="1">
                <a:solidFill>
                  <a:srgbClr val="156082"/>
                </a:solidFill>
              </a:rPr>
              <a:t>mmWave</a:t>
            </a:r>
            <a:r>
              <a:rPr lang="de-DE" sz="1600">
                <a:solidFill>
                  <a:srgbClr val="156082"/>
                </a:solidFill>
              </a:rPr>
              <a:t> Radars, </a:t>
            </a:r>
            <a:r>
              <a:rPr lang="de-DE" sz="1600" err="1">
                <a:solidFill>
                  <a:srgbClr val="156082"/>
                </a:solidFill>
              </a:rPr>
              <a:t>arXiv</a:t>
            </a:r>
            <a:r>
              <a:rPr lang="de-DE" sz="1600">
                <a:solidFill>
                  <a:srgbClr val="156082"/>
                </a:solidFill>
              </a:rPr>
              <a:t>, 2023.</a:t>
            </a:r>
          </a:p>
          <a:p>
            <a:r>
              <a:rPr lang="de-DE" sz="1600">
                <a:solidFill>
                  <a:srgbClr val="156082"/>
                </a:solidFill>
              </a:rPr>
              <a:t>Marty et al.: Investigation of </a:t>
            </a:r>
            <a:r>
              <a:rPr lang="de-DE" sz="1600" err="1">
                <a:solidFill>
                  <a:srgbClr val="156082"/>
                </a:solidFill>
              </a:rPr>
              <a:t>mmWave</a:t>
            </a:r>
            <a:r>
              <a:rPr lang="de-DE" sz="1600">
                <a:solidFill>
                  <a:srgbClr val="156082"/>
                </a:solidFill>
              </a:rPr>
              <a:t> Radar Technology For Non-contact Vital Sign Monitoring, </a:t>
            </a:r>
            <a:r>
              <a:rPr lang="de-DE" sz="1600" err="1">
                <a:solidFill>
                  <a:srgbClr val="156082"/>
                </a:solidFill>
              </a:rPr>
              <a:t>arXiv</a:t>
            </a:r>
            <a:r>
              <a:rPr lang="de-DE" sz="1600">
                <a:solidFill>
                  <a:srgbClr val="156082"/>
                </a:solidFill>
              </a:rPr>
              <a:t>, 2023.</a:t>
            </a:r>
          </a:p>
          <a:p>
            <a:r>
              <a:rPr lang="de-DE" sz="1600">
                <a:solidFill>
                  <a:srgbClr val="156082"/>
                </a:solidFill>
              </a:rPr>
              <a:t>Hsieh et al.: Harmonic MUSIC Method for </a:t>
            </a:r>
            <a:r>
              <a:rPr lang="de-DE" sz="1600" err="1">
                <a:solidFill>
                  <a:srgbClr val="156082"/>
                </a:solidFill>
              </a:rPr>
              <a:t>mmWave</a:t>
            </a:r>
            <a:r>
              <a:rPr lang="de-DE" sz="1600">
                <a:solidFill>
                  <a:srgbClr val="156082"/>
                </a:solidFill>
              </a:rPr>
              <a:t> Radar-based Vital Sign Estimation, </a:t>
            </a:r>
            <a:r>
              <a:rPr lang="de-DE" sz="1600" err="1">
                <a:solidFill>
                  <a:srgbClr val="156082"/>
                </a:solidFill>
              </a:rPr>
              <a:t>arXiv</a:t>
            </a:r>
            <a:r>
              <a:rPr lang="de-DE" sz="1600">
                <a:solidFill>
                  <a:srgbClr val="156082"/>
                </a:solidFill>
              </a:rPr>
              <a:t>, 2024.</a:t>
            </a:r>
          </a:p>
          <a:p>
            <a:r>
              <a:rPr lang="de-DE" sz="1600">
                <a:solidFill>
                  <a:srgbClr val="156082"/>
                </a:solidFill>
              </a:rPr>
              <a:t>SciPy Documentation: </a:t>
            </a:r>
            <a:r>
              <a:rPr lang="de-DE" sz="1600" err="1">
                <a:solidFill>
                  <a:srgbClr val="156082"/>
                </a:solidFill>
              </a:rPr>
              <a:t>scipy.signal.butter</a:t>
            </a:r>
            <a:r>
              <a:rPr lang="de-DE" sz="1600">
                <a:solidFill>
                  <a:srgbClr val="156082"/>
                </a:solidFill>
              </a:rPr>
              <a:t>, </a:t>
            </a:r>
            <a:r>
              <a:rPr lang="de-DE" sz="1600" err="1">
                <a:solidFill>
                  <a:srgbClr val="156082"/>
                </a:solidFill>
              </a:rPr>
              <a:t>scipy.signal.sosfiltfilt</a:t>
            </a:r>
            <a:r>
              <a:rPr lang="de-DE" sz="1600">
                <a:solidFill>
                  <a:srgbClr val="156082"/>
                </a:solidFill>
              </a:rPr>
              <a:t> und </a:t>
            </a:r>
            <a:r>
              <a:rPr lang="de-DE" sz="1600" err="1">
                <a:solidFill>
                  <a:srgbClr val="156082"/>
                </a:solidFill>
              </a:rPr>
              <a:t>scipy.signal.filtfilt</a:t>
            </a:r>
            <a:r>
              <a:rPr lang="de-DE" sz="1600">
                <a:solidFill>
                  <a:srgbClr val="15608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3B88FB-78CD-6161-0CD9-C804F207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 3: Validierungsmethode – was genau wurde verwendet??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18EAFF-B719-F6EC-615B-A0168144B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Wie die Genauigkeit bewertet wurde?</a:t>
            </a:r>
          </a:p>
          <a:p>
            <a:r>
              <a:rPr lang="de-DE" dirty="0"/>
              <a:t>Radarschätzungen wurden mit unabhängigen Referenzwerten verglichen</a:t>
            </a:r>
          </a:p>
          <a:p>
            <a:r>
              <a:rPr lang="de-DE" dirty="0"/>
              <a:t>Atmung und Herzfrequenz wurden getrennt bewertet</a:t>
            </a:r>
          </a:p>
          <a:p>
            <a:r>
              <a:rPr lang="de-DE" dirty="0"/>
              <a:t>Der absolute Fehler wurde als intuitive Genauigkeitsmetrik verwendet</a:t>
            </a:r>
          </a:p>
          <a:p>
            <a:r>
              <a:rPr lang="de-DE" dirty="0"/>
              <a:t>Atmung ist voraussichtlich zuverlässiger als Herzfrequenzschätzung</a:t>
            </a:r>
          </a:p>
          <a:p>
            <a:r>
              <a:rPr lang="de-DE" dirty="0"/>
              <a:t>Mehr Validierungsaufnahmen würden die statistische Aussagekraft verbessern</a:t>
            </a:r>
          </a:p>
        </p:txBody>
      </p:sp>
    </p:spTree>
    <p:extLst>
      <p:ext uri="{BB962C8B-B14F-4D97-AF65-F5344CB8AC3E}">
        <p14:creationId xmlns:p14="http://schemas.microsoft.com/office/powerpoint/2010/main" val="2783872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8D4B8-8DE2-BFAD-0B0D-A7A820822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 4: Bekannte Grenzen und zukünftige Verbesserungen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EDDC4F-AD66-C11A-E80B-A10942CBF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Was das System als nächstes verbessern würde?</a:t>
            </a:r>
          </a:p>
          <a:p>
            <a:r>
              <a:rPr lang="de-DE" dirty="0"/>
              <a:t>Robusteres Personentracking bei Bewegung</a:t>
            </a:r>
          </a:p>
          <a:p>
            <a:r>
              <a:rPr lang="de-DE" dirty="0"/>
              <a:t>Verbesserte Unterdrückung von Körperbewegungsartefakten</a:t>
            </a:r>
          </a:p>
          <a:p>
            <a:r>
              <a:rPr lang="de-DE" dirty="0"/>
              <a:t>Bessere Trennung von Atemharmonischen und Herzschlag</a:t>
            </a:r>
          </a:p>
          <a:p>
            <a:r>
              <a:rPr lang="de-DE" dirty="0"/>
              <a:t>Größerer Validierungsdatensatz mit Referenzsensoren</a:t>
            </a:r>
          </a:p>
          <a:p>
            <a:r>
              <a:rPr lang="de-DE" dirty="0"/>
              <a:t>Systematischere Tests über verschiedene Entfernungen, Winkel und Körperpositionen</a:t>
            </a:r>
          </a:p>
        </p:txBody>
      </p:sp>
    </p:spTree>
    <p:extLst>
      <p:ext uri="{BB962C8B-B14F-4D97-AF65-F5344CB8AC3E}">
        <p14:creationId xmlns:p14="http://schemas.microsoft.com/office/powerpoint/2010/main" val="2407025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2042</Words>
  <Application>Microsoft Office PowerPoint</Application>
  <PresentationFormat>Breitbild</PresentationFormat>
  <Paragraphs>373</Paragraphs>
  <Slides>27</Slides>
  <Notes>8</Notes>
  <HiddenSlides>8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Calibri Light</vt:lpstr>
      <vt:lpstr>Courier New</vt:lpstr>
      <vt:lpstr>Office</vt:lpstr>
      <vt:lpstr>Office 2013 - 2022 Theme</vt:lpstr>
      <vt:lpstr>PowerPoint-Präsentation</vt:lpstr>
      <vt:lpstr>PowerPoint-Präsentation</vt:lpstr>
      <vt:lpstr>Motivation</vt:lpstr>
      <vt:lpstr>PowerPoint-Präsentation</vt:lpstr>
      <vt:lpstr>Backup 1: Datenerfassungs-Pipeline</vt:lpstr>
      <vt:lpstr>Backup 1: Radarkonfiguration und Datenerfassung</vt:lpstr>
      <vt:lpstr>Radarprinzip für Vitalzeichenmessung</vt:lpstr>
      <vt:lpstr>Algorithmus-Gesamtübersicht</vt:lpstr>
      <vt:lpstr>Verarbeitungskette</vt:lpstr>
      <vt:lpstr>Rohdatenrekonstruktion</vt:lpstr>
      <vt:lpstr>Rohdatenrekonstruktion</vt:lpstr>
      <vt:lpstr>Reflexionen nach Entfernung trennen</vt:lpstr>
      <vt:lpstr>Region of Interest Erkennung</vt:lpstr>
      <vt:lpstr>Die Reflexion mit Brustbewegung finden</vt:lpstr>
      <vt:lpstr>Die Reflexion mit Brustbewegung finden</vt:lpstr>
      <vt:lpstr>Phasen -Unwrapping</vt:lpstr>
      <vt:lpstr>Filterungs-Pipeline der Vitalzeichen</vt:lpstr>
      <vt:lpstr>Atmung, Herzschlag und Rauschen trennen</vt:lpstr>
      <vt:lpstr>Backup 2: Filterfrequenzbänder und Parameter</vt:lpstr>
      <vt:lpstr>Gefilterte Signale in Vitalzeichen umwandeln</vt:lpstr>
      <vt:lpstr>Validierung und Genauigkeitsergebnisse</vt:lpstr>
      <vt:lpstr>Validierung und Genauigkeitsergebnisse</vt:lpstr>
      <vt:lpstr>PowerPoint-Präsentation</vt:lpstr>
      <vt:lpstr>Ausgabe, Grenzen und Fazit</vt:lpstr>
      <vt:lpstr>Quellen</vt:lpstr>
      <vt:lpstr>Backup 3: Validierungsmethode – was genau wurde verwendet??</vt:lpstr>
      <vt:lpstr>Backup 4: Bekannte Grenzen und zukünftige Verbesserungen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Gilles</dc:creator>
  <cp:lastModifiedBy>Jonas Gilles</cp:lastModifiedBy>
  <cp:revision>7</cp:revision>
  <dcterms:created xsi:type="dcterms:W3CDTF">2026-07-05T19:00:21Z</dcterms:created>
  <dcterms:modified xsi:type="dcterms:W3CDTF">2026-07-07T21:01:39Z</dcterms:modified>
</cp:coreProperties>
</file>