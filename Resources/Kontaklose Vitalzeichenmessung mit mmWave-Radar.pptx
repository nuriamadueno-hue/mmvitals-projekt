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72" r:id="rId14"/>
    <p:sldId id="267" r:id="rId15"/>
    <p:sldId id="268" r:id="rId16"/>
    <p:sldId id="273" r:id="rId17"/>
    <p:sldId id="269" r:id="rId18"/>
    <p:sldId id="270" r:id="rId19"/>
    <p:sldId id="274"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4BF31E-F5B4-4D17-9888-8F5C95E82B5F}" type="datetimeFigureOut">
              <a:rPr lang="de-DE" smtClean="0"/>
              <a:t>05.07.2026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DAE25F-19C2-4156-9E02-B4BE744ED2B3}" type="slidenum">
              <a:rPr lang="de-DE" smtClean="0"/>
              <a:t>‹Nr.›</a:t>
            </a:fld>
            <a:endParaRPr lang="de-DE"/>
          </a:p>
        </p:txBody>
      </p:sp>
    </p:spTree>
    <p:extLst>
      <p:ext uri="{BB962C8B-B14F-4D97-AF65-F5344CB8AC3E}">
        <p14:creationId xmlns:p14="http://schemas.microsoft.com/office/powerpoint/2010/main" val="1086441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Führen Sie das Thema als Projekt zur </a:t>
            </a:r>
            <a:r>
              <a:rPr lang="de-DE" dirty="0" err="1"/>
              <a:t>kontaklosen</a:t>
            </a:r>
            <a:r>
              <a:rPr lang="de-DE" dirty="0"/>
              <a:t> Vitalzeichenmessung mit </a:t>
            </a:r>
            <a:r>
              <a:rPr lang="de-DE" dirty="0" err="1"/>
              <a:t>mmWave</a:t>
            </a:r>
            <a:r>
              <a:rPr lang="de-DE" dirty="0"/>
              <a:t>-Radar ein. Erklären, dass für das Projekt auch das Verständnis der Radarhardware und der korrekten Radarkonfiguration notwendig war, weil nutzbare Rohdaten stark vom Messaufbau abhängen. Die Radarhardware und Konfiguration sind jedoch nicht der eigentliche eigene Hauptbeitrag der Arbeit. Sie bilden die Grundlage für die Datenerfassung, während der eigene Schwerpunkt auf der Python-Verarbeitungskette liegt, die aufgezeichnete Radardaten in Atemfrequenz- und Herzfrequenz- Schätzungen umwandelt</a:t>
            </a:r>
          </a:p>
        </p:txBody>
      </p:sp>
      <p:sp>
        <p:nvSpPr>
          <p:cNvPr id="4" name="Foliennummernplatzhalter 3"/>
          <p:cNvSpPr>
            <a:spLocks noGrp="1"/>
          </p:cNvSpPr>
          <p:nvPr>
            <p:ph type="sldNum" sz="quarter" idx="5"/>
          </p:nvPr>
        </p:nvSpPr>
        <p:spPr/>
        <p:txBody>
          <a:bodyPr/>
          <a:lstStyle/>
          <a:p>
            <a:fld id="{9CDAE25F-19C2-4156-9E02-B4BE744ED2B3}" type="slidenum">
              <a:rPr lang="de-DE" smtClean="0"/>
              <a:t>1</a:t>
            </a:fld>
            <a:endParaRPr lang="de-DE"/>
          </a:p>
        </p:txBody>
      </p:sp>
    </p:spTree>
    <p:extLst>
      <p:ext uri="{BB962C8B-B14F-4D97-AF65-F5344CB8AC3E}">
        <p14:creationId xmlns:p14="http://schemas.microsoft.com/office/powerpoint/2010/main" val="3239118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B38EAF-905B-4E26-D3BA-7876DB80E560}"/>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92069099-E4F9-9AE4-E070-1381EC025B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B980D187-1CAD-D88E-E780-3AABDB6C17A6}"/>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1E1F3BB7-A87B-2F4F-150F-CE2543A744B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46255AA-9239-109B-D56F-962845E1279B}"/>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4118587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AD56B2-B14B-040B-78BA-5B26B00FFFF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CDDF350-956F-1087-AF8E-184A8F003CA7}"/>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2D82478-E8F7-F29E-523B-C367F44F142F}"/>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23088DA4-64C3-8992-6A9E-1D81CD307B8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31EE56D-E55E-92BB-5A04-859EC5AE73A0}"/>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3274890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F16B23-38B7-FD13-9D4F-F2A8578531F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A920D28-0101-8911-C6B5-3020EFB62A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D8A1F20-C591-590D-DD1E-C482D2E0F03B}"/>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937B6B2A-4AB1-34F0-DA2C-76454301035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2250C85-7321-DA3C-2E04-B66886DC1213}"/>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3510860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CEC606-3C64-3B02-5BFE-941F408CF35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E4411019-22D9-4FAB-235B-35F5A908C14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6C1547EC-B250-FA79-80F0-D23207C28EB5}"/>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CFD81C6-5DCA-7616-675A-8745F4E741D5}"/>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6" name="Fußzeilenplatzhalter 5">
            <a:extLst>
              <a:ext uri="{FF2B5EF4-FFF2-40B4-BE49-F238E27FC236}">
                <a16:creationId xmlns:a16="http://schemas.microsoft.com/office/drawing/2014/main" id="{47228D71-AC23-22FA-0035-37372FB2A93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3826BFF-EDF9-453A-00F1-051D095621E9}"/>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813248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2CC03D-8D7A-DBDC-6F69-33C4E741A5C9}"/>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8B6C98EC-8537-0282-284C-5D436DA85F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72664726-91D9-5BD9-241B-730CDE2FF401}"/>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C4732E6E-4F43-422C-B732-364C396529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38B286B-0794-816B-9013-93D3E95E718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4AE71A7D-74CE-A565-F097-4F6D9F1C5204}"/>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8" name="Fußzeilenplatzhalter 7">
            <a:extLst>
              <a:ext uri="{FF2B5EF4-FFF2-40B4-BE49-F238E27FC236}">
                <a16:creationId xmlns:a16="http://schemas.microsoft.com/office/drawing/2014/main" id="{F41CBE9A-120C-1CD6-6ABF-F45591AEC075}"/>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71186E10-BFC4-56B7-B492-99FBB4162F1D}"/>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2555788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11575A-2ABE-408C-D41F-6E567E05700D}"/>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EAE3A049-EA11-99AC-5167-EA8E0086EDA8}"/>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4" name="Fußzeilenplatzhalter 3">
            <a:extLst>
              <a:ext uri="{FF2B5EF4-FFF2-40B4-BE49-F238E27FC236}">
                <a16:creationId xmlns:a16="http://schemas.microsoft.com/office/drawing/2014/main" id="{DC3C3F0B-AB87-9D99-11B2-A3E4F7E9677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9C1176DA-6111-FAA0-84AD-84AF089F3DC5}"/>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2067458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7B9046D-2920-083A-D4DA-58D50757EE86}"/>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3" name="Fußzeilenplatzhalter 2">
            <a:extLst>
              <a:ext uri="{FF2B5EF4-FFF2-40B4-BE49-F238E27FC236}">
                <a16:creationId xmlns:a16="http://schemas.microsoft.com/office/drawing/2014/main" id="{D9805741-6863-760E-C95F-38719B22904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A2C478AC-552F-9895-A4AE-8D708DAE55B2}"/>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1704270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7179D5-CCB2-7CEF-9022-8D6F1033ECA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36138CC1-1479-BF79-7A00-28DADD9F6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CABF6DB6-CC19-40C2-EA2B-7A4F0C1DB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00B850F-A05A-25D8-6F99-3B698CE13DD1}"/>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6" name="Fußzeilenplatzhalter 5">
            <a:extLst>
              <a:ext uri="{FF2B5EF4-FFF2-40B4-BE49-F238E27FC236}">
                <a16:creationId xmlns:a16="http://schemas.microsoft.com/office/drawing/2014/main" id="{2A55FE39-CB70-57BF-AC83-60B82F326CD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3D72EAF-17B9-2013-5FD9-8104BACEF519}"/>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4224572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B894F5-D28C-4E59-BC0A-05FD64E00B8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077E404-2583-0AEE-4589-D9D73CE831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6B062CC3-6D54-84CE-6B86-7A343CC0C8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A58C1F3-3295-5673-A65E-8DBA0C952ADC}"/>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6" name="Fußzeilenplatzhalter 5">
            <a:extLst>
              <a:ext uri="{FF2B5EF4-FFF2-40B4-BE49-F238E27FC236}">
                <a16:creationId xmlns:a16="http://schemas.microsoft.com/office/drawing/2014/main" id="{21F6C206-A9F5-9B2E-7B57-072969F8242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BC3BEE1-8255-D6F7-8A0F-9698B5BB9BAF}"/>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1342440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DEA3BF-8010-8E01-F94A-04D87E54D54C}"/>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8A0E45BD-F7A3-07C0-A6CF-664669F755D1}"/>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F3556F6-BBA6-BF64-EDC6-618E533F5BB2}"/>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FAA0CC33-0F31-88CF-8512-3FCC57B9082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499E3B8-AD13-0C67-6B7D-224D9C82229F}"/>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391853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58962F2-624B-5CDE-FCA1-EABFC19C36B8}"/>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F7A056A4-07F6-09F0-26AA-146EB8D664E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68A9229-FFFD-550B-B20B-76561409EE7C}"/>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C91921D9-AEE5-4AAD-2BDB-C1F208664AE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B52BC53-35C4-8F92-4E2F-D49D9916A78F}"/>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1653773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76BAF5-EE78-A668-F6F4-2F07D1B4D5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43B6A11B-E44D-0494-7436-117F593802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9CD77DE-CABE-78E9-5B50-0FC6217D64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8547780C-1506-C1C1-DFAC-298BC183C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E0BDCBE3-8662-FE2D-1785-CDB0F2F261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ABD02F-F259-41F8-ABDC-C5C373099A6B}" type="slidenum">
              <a:rPr lang="de-DE" smtClean="0"/>
              <a:t>‹Nr.›</a:t>
            </a:fld>
            <a:endParaRPr lang="de-DE"/>
          </a:p>
        </p:txBody>
      </p:sp>
    </p:spTree>
    <p:extLst>
      <p:ext uri="{BB962C8B-B14F-4D97-AF65-F5344CB8AC3E}">
        <p14:creationId xmlns:p14="http://schemas.microsoft.com/office/powerpoint/2010/main" val="827843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C19BDE-96C2-9FA9-24FB-1C5039F2E16C}"/>
              </a:ext>
            </a:extLst>
          </p:cNvPr>
          <p:cNvSpPr>
            <a:spLocks noGrp="1"/>
          </p:cNvSpPr>
          <p:nvPr>
            <p:ph type="ctrTitle"/>
          </p:nvPr>
        </p:nvSpPr>
        <p:spPr/>
        <p:txBody>
          <a:bodyPr>
            <a:normAutofit fontScale="90000"/>
          </a:bodyPr>
          <a:lstStyle/>
          <a:p>
            <a:r>
              <a:rPr lang="de-DE" dirty="0" err="1"/>
              <a:t>Kontaklose</a:t>
            </a:r>
            <a:r>
              <a:rPr lang="de-DE" dirty="0"/>
              <a:t> Vitalzeichenmessung mit </a:t>
            </a:r>
            <a:r>
              <a:rPr lang="de-DE" dirty="0" err="1"/>
              <a:t>mmWave</a:t>
            </a:r>
            <a:r>
              <a:rPr lang="de-DE" dirty="0"/>
              <a:t>-Radar</a:t>
            </a:r>
          </a:p>
        </p:txBody>
      </p:sp>
      <p:sp>
        <p:nvSpPr>
          <p:cNvPr id="3" name="Untertitel 2">
            <a:extLst>
              <a:ext uri="{FF2B5EF4-FFF2-40B4-BE49-F238E27FC236}">
                <a16:creationId xmlns:a16="http://schemas.microsoft.com/office/drawing/2014/main" id="{C880B2E6-4F46-950D-007E-8C4A87356186}"/>
              </a:ext>
            </a:extLst>
          </p:cNvPr>
          <p:cNvSpPr>
            <a:spLocks noGrp="1"/>
          </p:cNvSpPr>
          <p:nvPr>
            <p:ph type="subTitle" idx="1"/>
          </p:nvPr>
        </p:nvSpPr>
        <p:spPr/>
        <p:txBody>
          <a:bodyPr>
            <a:normAutofit fontScale="85000" lnSpcReduction="20000"/>
          </a:bodyPr>
          <a:lstStyle/>
          <a:p>
            <a:pPr marL="342900" indent="-342900">
              <a:buFont typeface="Arial" panose="020B0604020202020204" pitchFamily="34" charset="0"/>
              <a:buChar char="•"/>
            </a:pPr>
            <a:r>
              <a:rPr lang="de-DE" dirty="0"/>
              <a:t>Python-basierte Analyse von </a:t>
            </a:r>
            <a:r>
              <a:rPr lang="de-DE" dirty="0" err="1"/>
              <a:t>mmWave</a:t>
            </a:r>
            <a:r>
              <a:rPr lang="de-DE" dirty="0"/>
              <a:t>-Radardaten</a:t>
            </a:r>
          </a:p>
          <a:p>
            <a:pPr marL="342900" indent="-342900">
              <a:buFont typeface="Arial" panose="020B0604020202020204" pitchFamily="34" charset="0"/>
              <a:buChar char="•"/>
            </a:pPr>
            <a:r>
              <a:rPr lang="de-DE" dirty="0" err="1"/>
              <a:t>Kontaklose</a:t>
            </a:r>
            <a:r>
              <a:rPr lang="de-DE" dirty="0"/>
              <a:t> Schätzung von Atemfrequenz und Herzfrequenz</a:t>
            </a:r>
          </a:p>
          <a:p>
            <a:pPr marL="342900" indent="-342900">
              <a:buFont typeface="Arial" panose="020B0604020202020204" pitchFamily="34" charset="0"/>
              <a:buChar char="•"/>
            </a:pPr>
            <a:r>
              <a:rPr lang="de-DE" dirty="0"/>
              <a:t>Radarkonfiguration und Datenerfassung als notwendige Grundlage</a:t>
            </a:r>
          </a:p>
          <a:p>
            <a:pPr marL="342900" indent="-342900">
              <a:buFont typeface="Arial" panose="020B0604020202020204" pitchFamily="34" charset="0"/>
              <a:buChar char="•"/>
            </a:pPr>
            <a:r>
              <a:rPr lang="de-DE" dirty="0"/>
              <a:t>Eigener Hauptbeitrag: Verarbeitungskette von Rohdaten zu Vitalzeichen-Schätzungen</a:t>
            </a:r>
          </a:p>
        </p:txBody>
      </p:sp>
    </p:spTree>
    <p:extLst>
      <p:ext uri="{BB962C8B-B14F-4D97-AF65-F5344CB8AC3E}">
        <p14:creationId xmlns:p14="http://schemas.microsoft.com/office/powerpoint/2010/main" val="2849696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975C49-5326-A839-596E-37964BE7E4AB}"/>
              </a:ext>
            </a:extLst>
          </p:cNvPr>
          <p:cNvSpPr>
            <a:spLocks noGrp="1"/>
          </p:cNvSpPr>
          <p:nvPr>
            <p:ph type="title"/>
          </p:nvPr>
        </p:nvSpPr>
        <p:spPr/>
        <p:txBody>
          <a:bodyPr/>
          <a:lstStyle/>
          <a:p>
            <a:r>
              <a:rPr lang="de-DE" dirty="0"/>
              <a:t>Motivation</a:t>
            </a:r>
          </a:p>
        </p:txBody>
      </p:sp>
      <p:sp>
        <p:nvSpPr>
          <p:cNvPr id="3" name="Inhaltsplatzhalter 2">
            <a:extLst>
              <a:ext uri="{FF2B5EF4-FFF2-40B4-BE49-F238E27FC236}">
                <a16:creationId xmlns:a16="http://schemas.microsoft.com/office/drawing/2014/main" id="{185E8990-C6DF-972F-147F-DDA2ABA504F1}"/>
              </a:ext>
            </a:extLst>
          </p:cNvPr>
          <p:cNvSpPr>
            <a:spLocks noGrp="1"/>
          </p:cNvSpPr>
          <p:nvPr>
            <p:ph idx="1"/>
          </p:nvPr>
        </p:nvSpPr>
        <p:spPr/>
        <p:txBody>
          <a:bodyPr>
            <a:normAutofit fontScale="92500" lnSpcReduction="20000"/>
          </a:bodyPr>
          <a:lstStyle/>
          <a:p>
            <a:pPr marL="0" indent="0">
              <a:buNone/>
            </a:pPr>
            <a:r>
              <a:rPr lang="de-DE" dirty="0"/>
              <a:t>Warum </a:t>
            </a:r>
            <a:r>
              <a:rPr lang="de-DE" dirty="0" err="1"/>
              <a:t>kontaklose</a:t>
            </a:r>
            <a:r>
              <a:rPr lang="de-DE" dirty="0"/>
              <a:t> Vitalzeichenmessung?</a:t>
            </a:r>
          </a:p>
          <a:p>
            <a:r>
              <a:rPr lang="de-DE" dirty="0"/>
              <a:t>Konventionelle Sensoren benötigen physischen Kontakt</a:t>
            </a:r>
          </a:p>
          <a:p>
            <a:r>
              <a:rPr lang="de-DE" dirty="0"/>
              <a:t>Physischer Kontakt kann unangenehm oder nicht möglich sein</a:t>
            </a:r>
          </a:p>
          <a:p>
            <a:r>
              <a:rPr lang="de-DE" dirty="0"/>
              <a:t>Relevant für Brandopfer, fragile Patienten, Schlafüberwachung und Isolationsräume</a:t>
            </a:r>
          </a:p>
          <a:p>
            <a:r>
              <a:rPr lang="de-DE" dirty="0"/>
              <a:t>Ermöglicht passive Überwachung ohne angebrachte Sensoren am Körper</a:t>
            </a:r>
          </a:p>
          <a:p>
            <a:r>
              <a:rPr lang="de-DE" dirty="0"/>
              <a:t>Potenzieller Einsatz als Frühwarnsystem in Wartezimmern oder Pflegebereichen</a:t>
            </a:r>
          </a:p>
          <a:p>
            <a:r>
              <a:rPr lang="de-DE" dirty="0"/>
              <a:t>Auffälliges </a:t>
            </a:r>
            <a:r>
              <a:rPr lang="de-DE" dirty="0" err="1"/>
              <a:t>Atem-oder</a:t>
            </a:r>
            <a:r>
              <a:rPr lang="de-DE" dirty="0"/>
              <a:t> Herzfrequenzverhalten könnte erkannt werden, bevor eine </a:t>
            </a:r>
            <a:r>
              <a:rPr lang="de-DE" dirty="0" err="1"/>
              <a:t>sischtbare</a:t>
            </a:r>
            <a:r>
              <a:rPr lang="de-DE" dirty="0"/>
              <a:t> Verschlechterung eintritt</a:t>
            </a:r>
          </a:p>
        </p:txBody>
      </p:sp>
    </p:spTree>
    <p:extLst>
      <p:ext uri="{BB962C8B-B14F-4D97-AF65-F5344CB8AC3E}">
        <p14:creationId xmlns:p14="http://schemas.microsoft.com/office/powerpoint/2010/main" val="2957115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5366D3-5F82-AD46-7FAF-64E65DF8DD4F}"/>
              </a:ext>
            </a:extLst>
          </p:cNvPr>
          <p:cNvSpPr>
            <a:spLocks noGrp="1"/>
          </p:cNvSpPr>
          <p:nvPr>
            <p:ph type="title"/>
          </p:nvPr>
        </p:nvSpPr>
        <p:spPr/>
        <p:txBody>
          <a:bodyPr/>
          <a:lstStyle/>
          <a:p>
            <a:r>
              <a:rPr lang="de-DE" dirty="0"/>
              <a:t>Radarprinzip für Vitalzeichenmessung</a:t>
            </a:r>
          </a:p>
        </p:txBody>
      </p:sp>
      <p:sp>
        <p:nvSpPr>
          <p:cNvPr id="3" name="Inhaltsplatzhalter 2">
            <a:extLst>
              <a:ext uri="{FF2B5EF4-FFF2-40B4-BE49-F238E27FC236}">
                <a16:creationId xmlns:a16="http://schemas.microsoft.com/office/drawing/2014/main" id="{DABFD0C3-3F37-FBE6-A2C6-A1B634875496}"/>
              </a:ext>
            </a:extLst>
          </p:cNvPr>
          <p:cNvSpPr>
            <a:spLocks noGrp="1"/>
          </p:cNvSpPr>
          <p:nvPr>
            <p:ph idx="1"/>
          </p:nvPr>
        </p:nvSpPr>
        <p:spPr/>
        <p:txBody>
          <a:bodyPr>
            <a:normAutofit fontScale="85000" lnSpcReduction="20000"/>
          </a:bodyPr>
          <a:lstStyle/>
          <a:p>
            <a:pPr marL="0" indent="0">
              <a:buNone/>
            </a:pPr>
            <a:r>
              <a:rPr lang="de-DE" dirty="0"/>
              <a:t>Von Abstandsmessung zu phasenbasierter Bewegungserfassung</a:t>
            </a:r>
          </a:p>
          <a:p>
            <a:r>
              <a:rPr lang="de-DE" dirty="0"/>
              <a:t>Konventionelle Radarverarbeitung trennt Objekte nach Entfernung</a:t>
            </a:r>
          </a:p>
          <a:p>
            <a:r>
              <a:rPr lang="de-DE" dirty="0"/>
              <a:t>Mit unsren </a:t>
            </a:r>
            <a:r>
              <a:rPr lang="de-DE" dirty="0" err="1"/>
              <a:t>Chirp</a:t>
            </a:r>
            <a:r>
              <a:rPr lang="de-DE" dirty="0"/>
              <a:t>-Einstellungen beträgt die Entfernungsauflösung etwa 83 mm</a:t>
            </a:r>
          </a:p>
          <a:p>
            <a:r>
              <a:rPr lang="de-DE" dirty="0"/>
              <a:t>Vitalzeichenmessung nutzt Phasenänderungen innerhalb des ausgewählten Entfernungsbereichs</a:t>
            </a:r>
          </a:p>
          <a:p>
            <a:r>
              <a:rPr lang="de-DE" dirty="0"/>
              <a:t>Bei der verwendeten Trägerfrequenz von 77 GHz entspricht ein vollständiger Phasenzyklus etwa 1,95 mm Round-Trip-Verschiebungsmehrdeutigkeit</a:t>
            </a:r>
          </a:p>
          <a:p>
            <a:r>
              <a:rPr lang="de-DE" dirty="0"/>
              <a:t>Kleine Phasenänderungen ermöglichen Bewegungserfassung im Sub-Millimeter-Bereich</a:t>
            </a:r>
          </a:p>
          <a:p>
            <a:r>
              <a:rPr lang="de-DE" dirty="0"/>
              <a:t>Dadurch werden Atem- und Herzbewegungen messbar, obwohl sie deutlich kleiner als die Entfernungsauflösung sind</a:t>
            </a:r>
          </a:p>
          <a:p>
            <a:endParaRPr lang="de-DE" dirty="0"/>
          </a:p>
        </p:txBody>
      </p:sp>
    </p:spTree>
    <p:extLst>
      <p:ext uri="{BB962C8B-B14F-4D97-AF65-F5344CB8AC3E}">
        <p14:creationId xmlns:p14="http://schemas.microsoft.com/office/powerpoint/2010/main" val="2271170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AB94E7-EB95-FB77-69D1-CB9D4A72ADED}"/>
              </a:ext>
            </a:extLst>
          </p:cNvPr>
          <p:cNvSpPr>
            <a:spLocks noGrp="1"/>
          </p:cNvSpPr>
          <p:nvPr>
            <p:ph type="title"/>
          </p:nvPr>
        </p:nvSpPr>
        <p:spPr/>
        <p:txBody>
          <a:bodyPr/>
          <a:lstStyle/>
          <a:p>
            <a:r>
              <a:rPr lang="de-DE" dirty="0"/>
              <a:t>Backup 1: Radarkonfiguration und Datenerfassung</a:t>
            </a:r>
          </a:p>
        </p:txBody>
      </p:sp>
      <p:sp>
        <p:nvSpPr>
          <p:cNvPr id="3" name="Inhaltsplatzhalter 2">
            <a:extLst>
              <a:ext uri="{FF2B5EF4-FFF2-40B4-BE49-F238E27FC236}">
                <a16:creationId xmlns:a16="http://schemas.microsoft.com/office/drawing/2014/main" id="{8357B416-57FD-5BEE-9228-BEFF5DDDA370}"/>
              </a:ext>
            </a:extLst>
          </p:cNvPr>
          <p:cNvSpPr>
            <a:spLocks noGrp="1"/>
          </p:cNvSpPr>
          <p:nvPr>
            <p:ph idx="1"/>
          </p:nvPr>
        </p:nvSpPr>
        <p:spPr/>
        <p:txBody>
          <a:bodyPr/>
          <a:lstStyle/>
          <a:p>
            <a:pPr marL="0" indent="0">
              <a:buNone/>
            </a:pPr>
            <a:r>
              <a:rPr lang="de-DE" dirty="0"/>
              <a:t>Wie die Messdaten aufgezeichnet wurden</a:t>
            </a:r>
          </a:p>
          <a:p>
            <a:r>
              <a:rPr lang="de-DE" dirty="0"/>
              <a:t>Radardaten wurden mit TI </a:t>
            </a:r>
            <a:r>
              <a:rPr lang="de-DE" dirty="0" err="1"/>
              <a:t>mmWave</a:t>
            </a:r>
            <a:r>
              <a:rPr lang="de-DE" dirty="0"/>
              <a:t> Studio aufgezeichnet</a:t>
            </a:r>
          </a:p>
          <a:p>
            <a:r>
              <a:rPr lang="de-DE" dirty="0"/>
              <a:t>Verwendeter Radar-IC im Projekt: TI IWR1843</a:t>
            </a:r>
          </a:p>
          <a:p>
            <a:r>
              <a:rPr lang="de-DE" dirty="0"/>
              <a:t>Verwendete Datenerfassungsplatine: DCA1000EVM</a:t>
            </a:r>
          </a:p>
          <a:p>
            <a:r>
              <a:rPr lang="de-DE" dirty="0"/>
              <a:t>Rohe ADC-Daten wurden für Offline-Verarbeitung gespeichert</a:t>
            </a:r>
          </a:p>
          <a:p>
            <a:r>
              <a:rPr lang="de-DE" dirty="0"/>
              <a:t>Konfigurationsdateien definieren Frame-Timing, Samples, </a:t>
            </a:r>
            <a:r>
              <a:rPr lang="de-DE" dirty="0" err="1"/>
              <a:t>Chirps</a:t>
            </a:r>
            <a:r>
              <a:rPr lang="de-DE" dirty="0"/>
              <a:t>, Empfangskanäle und LVDS-Datenformat</a:t>
            </a:r>
          </a:p>
          <a:p>
            <a:r>
              <a:rPr lang="de-DE" dirty="0"/>
              <a:t>Die Python-Pipeline benötigt diese Konfiguration, um die Daten korrekt zu rekonstruieren</a:t>
            </a:r>
          </a:p>
        </p:txBody>
      </p:sp>
    </p:spTree>
    <p:extLst>
      <p:ext uri="{BB962C8B-B14F-4D97-AF65-F5344CB8AC3E}">
        <p14:creationId xmlns:p14="http://schemas.microsoft.com/office/powerpoint/2010/main" val="390016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75CC16-7039-9D03-4046-AADF8457FE47}"/>
              </a:ext>
            </a:extLst>
          </p:cNvPr>
          <p:cNvSpPr>
            <a:spLocks noGrp="1"/>
          </p:cNvSpPr>
          <p:nvPr>
            <p:ph type="title"/>
          </p:nvPr>
        </p:nvSpPr>
        <p:spPr/>
        <p:txBody>
          <a:bodyPr/>
          <a:lstStyle/>
          <a:p>
            <a:r>
              <a:rPr lang="de-DE"/>
              <a:t>Algorithmus-Gesamtübersicht</a:t>
            </a:r>
            <a:endParaRPr lang="de-DE" dirty="0"/>
          </a:p>
        </p:txBody>
      </p:sp>
      <p:sp>
        <p:nvSpPr>
          <p:cNvPr id="3" name="Inhaltsplatzhalter 2">
            <a:extLst>
              <a:ext uri="{FF2B5EF4-FFF2-40B4-BE49-F238E27FC236}">
                <a16:creationId xmlns:a16="http://schemas.microsoft.com/office/drawing/2014/main" id="{F7356DDA-7C8A-7C5E-793B-5E398E84EF2C}"/>
              </a:ext>
            </a:extLst>
          </p:cNvPr>
          <p:cNvSpPr>
            <a:spLocks noGrp="1"/>
          </p:cNvSpPr>
          <p:nvPr>
            <p:ph idx="1"/>
          </p:nvPr>
        </p:nvSpPr>
        <p:spPr/>
        <p:txBody>
          <a:bodyPr/>
          <a:lstStyle/>
          <a:p>
            <a:pPr marL="0" indent="0">
              <a:buNone/>
            </a:pPr>
            <a:r>
              <a:rPr lang="de-DE"/>
              <a:t>Von Radar-Rohdaten zu Vitalzeichen-Schätzungen</a:t>
            </a:r>
          </a:p>
          <a:p>
            <a:pPr marL="0" indent="0">
              <a:buNone/>
            </a:pPr>
            <a:endParaRPr lang="de-DE" dirty="0"/>
          </a:p>
        </p:txBody>
      </p:sp>
      <p:graphicFrame>
        <p:nvGraphicFramePr>
          <p:cNvPr id="5" name="Tabelle 4">
            <a:extLst>
              <a:ext uri="{FF2B5EF4-FFF2-40B4-BE49-F238E27FC236}">
                <a16:creationId xmlns:a16="http://schemas.microsoft.com/office/drawing/2014/main" id="{BD2F1183-EF09-1897-4DD3-D080B03D1AB9}"/>
              </a:ext>
            </a:extLst>
          </p:cNvPr>
          <p:cNvGraphicFramePr>
            <a:graphicFrameLocks noGrp="1"/>
          </p:cNvGraphicFramePr>
          <p:nvPr>
            <p:extLst>
              <p:ext uri="{D42A27DB-BD31-4B8C-83A1-F6EECF244321}">
                <p14:modId xmlns:p14="http://schemas.microsoft.com/office/powerpoint/2010/main" val="3535513908"/>
              </p:ext>
            </p:extLst>
          </p:nvPr>
        </p:nvGraphicFramePr>
        <p:xfrm>
          <a:off x="838199" y="2275750"/>
          <a:ext cx="10840452" cy="11795760"/>
        </p:xfrm>
        <a:graphic>
          <a:graphicData uri="http://schemas.openxmlformats.org/drawingml/2006/table">
            <a:tbl>
              <a:tblPr firstRow="1" bandRow="1">
                <a:tableStyleId>{5C22544A-7EE6-4342-B048-85BDC9FD1C3A}</a:tableStyleId>
              </a:tblPr>
              <a:tblGrid>
                <a:gridCol w="2710113">
                  <a:extLst>
                    <a:ext uri="{9D8B030D-6E8A-4147-A177-3AD203B41FA5}">
                      <a16:colId xmlns:a16="http://schemas.microsoft.com/office/drawing/2014/main" val="3688593265"/>
                    </a:ext>
                  </a:extLst>
                </a:gridCol>
                <a:gridCol w="2710113">
                  <a:extLst>
                    <a:ext uri="{9D8B030D-6E8A-4147-A177-3AD203B41FA5}">
                      <a16:colId xmlns:a16="http://schemas.microsoft.com/office/drawing/2014/main" val="4027526334"/>
                    </a:ext>
                  </a:extLst>
                </a:gridCol>
                <a:gridCol w="2710113">
                  <a:extLst>
                    <a:ext uri="{9D8B030D-6E8A-4147-A177-3AD203B41FA5}">
                      <a16:colId xmlns:a16="http://schemas.microsoft.com/office/drawing/2014/main" val="1622895183"/>
                    </a:ext>
                  </a:extLst>
                </a:gridCol>
                <a:gridCol w="2710113">
                  <a:extLst>
                    <a:ext uri="{9D8B030D-6E8A-4147-A177-3AD203B41FA5}">
                      <a16:colId xmlns:a16="http://schemas.microsoft.com/office/drawing/2014/main" val="772960354"/>
                    </a:ext>
                  </a:extLst>
                </a:gridCol>
              </a:tblGrid>
              <a:tr h="370840">
                <a:tc>
                  <a:txBody>
                    <a:bodyPr/>
                    <a:lstStyle/>
                    <a:p>
                      <a:pPr>
                        <a:buNone/>
                      </a:pPr>
                      <a:r>
                        <a:rPr lang="de-DE" dirty="0"/>
                        <a:t>Algorithmisches Modul</a:t>
                      </a:r>
                    </a:p>
                  </a:txBody>
                  <a:tcPr anchor="ctr"/>
                </a:tc>
                <a:tc>
                  <a:txBody>
                    <a:bodyPr/>
                    <a:lstStyle/>
                    <a:p>
                      <a:pPr>
                        <a:buNone/>
                      </a:pPr>
                      <a:r>
                        <a:rPr lang="de-DE"/>
                        <a:t>Genutztes Python-Modul</a:t>
                      </a:r>
                    </a:p>
                  </a:txBody>
                  <a:tcPr anchor="ctr"/>
                </a:tc>
                <a:tc>
                  <a:txBody>
                    <a:bodyPr/>
                    <a:lstStyle/>
                    <a:p>
                      <a:pPr>
                        <a:buNone/>
                      </a:pPr>
                      <a:r>
                        <a:rPr lang="de-DE"/>
                        <a:t>Eingangsdaten</a:t>
                      </a:r>
                    </a:p>
                  </a:txBody>
                  <a:tcPr anchor="ctr"/>
                </a:tc>
                <a:tc>
                  <a:txBody>
                    <a:bodyPr/>
                    <a:lstStyle/>
                    <a:p>
                      <a:pPr>
                        <a:buNone/>
                      </a:pPr>
                      <a:r>
                        <a:rPr lang="de-DE"/>
                        <a:t>Zwischenergebnis / Ausgabe</a:t>
                      </a:r>
                    </a:p>
                  </a:txBody>
                  <a:tcPr anchor="ctr"/>
                </a:tc>
                <a:extLst>
                  <a:ext uri="{0D108BD9-81ED-4DB2-BD59-A6C34878D82A}">
                    <a16:rowId xmlns:a16="http://schemas.microsoft.com/office/drawing/2014/main" val="926754576"/>
                  </a:ext>
                </a:extLst>
              </a:tr>
              <a:tr h="370840">
                <a:tc>
                  <a:txBody>
                    <a:bodyPr/>
                    <a:lstStyle/>
                    <a:p>
                      <a:pPr>
                        <a:buNone/>
                      </a:pPr>
                      <a:r>
                        <a:rPr lang="de-DE" b="1"/>
                        <a:t>Hauptsteuerung der Pipeline</a:t>
                      </a:r>
                      <a:endParaRPr lang="de-DE"/>
                    </a:p>
                  </a:txBody>
                  <a:tcPr anchor="ctr"/>
                </a:tc>
                <a:tc>
                  <a:txBody>
                    <a:bodyPr/>
                    <a:lstStyle/>
                    <a:p>
                      <a:pPr>
                        <a:buNone/>
                      </a:pPr>
                      <a:r>
                        <a:rPr lang="de-DE">
                          <a:latin typeface="Courier New" panose="02070309020205020404" pitchFamily="49" charset="0"/>
                        </a:rPr>
                        <a:t>ADC_To_Vital_Signs.py</a:t>
                      </a:r>
                      <a:endParaRPr lang="de-DE"/>
                    </a:p>
                  </a:txBody>
                  <a:tcPr anchor="ctr"/>
                </a:tc>
                <a:tc>
                  <a:txBody>
                    <a:bodyPr/>
                    <a:lstStyle/>
                    <a:p>
                      <a:pPr>
                        <a:buNone/>
                      </a:pPr>
                      <a:r>
                        <a:rPr lang="de-DE"/>
                        <a:t>Benutzerausführung, Projektpfade, Speicherorte für Konfiguration und Rohdaten</a:t>
                      </a:r>
                    </a:p>
                  </a:txBody>
                  <a:tcPr anchor="ctr"/>
                </a:tc>
                <a:tc>
                  <a:txBody>
                    <a:bodyPr/>
                    <a:lstStyle/>
                    <a:p>
                      <a:pPr>
                        <a:buNone/>
                      </a:pPr>
                      <a:r>
                        <a:rPr lang="de-DE"/>
                        <a:t>Führt die gesamte Verarbeitungskette aus und koordiniert alle Module</a:t>
                      </a:r>
                    </a:p>
                  </a:txBody>
                  <a:tcPr anchor="ctr"/>
                </a:tc>
                <a:extLst>
                  <a:ext uri="{0D108BD9-81ED-4DB2-BD59-A6C34878D82A}">
                    <a16:rowId xmlns:a16="http://schemas.microsoft.com/office/drawing/2014/main" val="609535463"/>
                  </a:ext>
                </a:extLst>
              </a:tr>
              <a:tr h="370840">
                <a:tc>
                  <a:txBody>
                    <a:bodyPr/>
                    <a:lstStyle/>
                    <a:p>
                      <a:pPr>
                        <a:buNone/>
                      </a:pPr>
                      <a:r>
                        <a:rPr lang="de-DE" b="1"/>
                        <a:t>Konfigurationsladen</a:t>
                      </a:r>
                      <a:endParaRPr lang="de-DE"/>
                    </a:p>
                  </a:txBody>
                  <a:tcPr anchor="ctr"/>
                </a:tc>
                <a:tc>
                  <a:txBody>
                    <a:bodyPr/>
                    <a:lstStyle/>
                    <a:p>
                      <a:pPr>
                        <a:buNone/>
                      </a:pPr>
                      <a:r>
                        <a:rPr lang="de-DE">
                          <a:latin typeface="Courier New" panose="02070309020205020404" pitchFamily="49" charset="0"/>
                        </a:rPr>
                        <a:t>radar_config.py</a:t>
                      </a:r>
                      <a:r>
                        <a:rPr lang="de-DE"/>
                        <a:t>, </a:t>
                      </a:r>
                      <a:r>
                        <a:rPr lang="de-DE">
                          <a:latin typeface="Courier New" panose="02070309020205020404" pitchFamily="49" charset="0"/>
                        </a:rPr>
                        <a:t>metadata_utils.py</a:t>
                      </a:r>
                      <a:endParaRPr lang="de-DE"/>
                    </a:p>
                  </a:txBody>
                  <a:tcPr anchor="ctr"/>
                </a:tc>
                <a:tc>
                  <a:txBody>
                    <a:bodyPr/>
                    <a:lstStyle/>
                    <a:p>
                      <a:pPr>
                        <a:buNone/>
                      </a:pPr>
                      <a:r>
                        <a:rPr lang="de-DE"/>
                        <a:t>Radarkonfigurationsdateien und Aufzeichnungsmetadaten</a:t>
                      </a:r>
                    </a:p>
                  </a:txBody>
                  <a:tcPr anchor="ctr"/>
                </a:tc>
                <a:tc>
                  <a:txBody>
                    <a:bodyPr/>
                    <a:lstStyle/>
                    <a:p>
                      <a:pPr>
                        <a:buNone/>
                      </a:pPr>
                      <a:r>
                        <a:rPr lang="de-DE"/>
                        <a:t>Messparameter wie Samples, Chirps, Frames, Empfangskanäle und Timing</a:t>
                      </a:r>
                    </a:p>
                  </a:txBody>
                  <a:tcPr anchor="ctr"/>
                </a:tc>
                <a:extLst>
                  <a:ext uri="{0D108BD9-81ED-4DB2-BD59-A6C34878D82A}">
                    <a16:rowId xmlns:a16="http://schemas.microsoft.com/office/drawing/2014/main" val="1629514802"/>
                  </a:ext>
                </a:extLst>
              </a:tr>
              <a:tr h="370840">
                <a:tc>
                  <a:txBody>
                    <a:bodyPr/>
                    <a:lstStyle/>
                    <a:p>
                      <a:pPr>
                        <a:buNone/>
                      </a:pPr>
                      <a:r>
                        <a:rPr lang="de-DE" b="1"/>
                        <a:t>Rohdatenrekonstruktion</a:t>
                      </a:r>
                      <a:endParaRPr lang="de-DE"/>
                    </a:p>
                  </a:txBody>
                  <a:tcPr anchor="ctr"/>
                </a:tc>
                <a:tc>
                  <a:txBody>
                    <a:bodyPr/>
                    <a:lstStyle/>
                    <a:p>
                      <a:pPr>
                        <a:buNone/>
                      </a:pPr>
                      <a:r>
                        <a:rPr lang="de-DE">
                          <a:latin typeface="Courier New" panose="02070309020205020404" pitchFamily="49" charset="0"/>
                        </a:rPr>
                        <a:t>adc_parser.py</a:t>
                      </a:r>
                      <a:endParaRPr lang="de-DE"/>
                    </a:p>
                  </a:txBody>
                  <a:tcPr anchor="ctr"/>
                </a:tc>
                <a:tc>
                  <a:txBody>
                    <a:bodyPr/>
                    <a:lstStyle/>
                    <a:p>
                      <a:pPr>
                        <a:buNone/>
                      </a:pPr>
                      <a:r>
                        <a:rPr lang="de-DE"/>
                        <a:t>Rohe binäre ADC-Daten + Konfigurationsparameter</a:t>
                      </a:r>
                    </a:p>
                  </a:txBody>
                  <a:tcPr anchor="ctr"/>
                </a:tc>
                <a:tc>
                  <a:txBody>
                    <a:bodyPr/>
                    <a:lstStyle/>
                    <a:p>
                      <a:pPr>
                        <a:buNone/>
                      </a:pPr>
                      <a:r>
                        <a:rPr lang="de-DE"/>
                        <a:t>Strukturierter Radar-Datenwürfel</a:t>
                      </a:r>
                    </a:p>
                  </a:txBody>
                  <a:tcPr anchor="ctr"/>
                </a:tc>
                <a:extLst>
                  <a:ext uri="{0D108BD9-81ED-4DB2-BD59-A6C34878D82A}">
                    <a16:rowId xmlns:a16="http://schemas.microsoft.com/office/drawing/2014/main" val="2966230495"/>
                  </a:ext>
                </a:extLst>
              </a:tr>
              <a:tr h="370840">
                <a:tc>
                  <a:txBody>
                    <a:bodyPr/>
                    <a:lstStyle/>
                    <a:p>
                      <a:pPr>
                        <a:buNone/>
                      </a:pPr>
                      <a:r>
                        <a:rPr lang="de-DE" b="1"/>
                        <a:t>Entfernungsverarbeitung</a:t>
                      </a:r>
                      <a:endParaRPr lang="de-DE"/>
                    </a:p>
                  </a:txBody>
                  <a:tcPr anchor="ctr"/>
                </a:tc>
                <a:tc>
                  <a:txBody>
                    <a:bodyPr/>
                    <a:lstStyle/>
                    <a:p>
                      <a:pPr>
                        <a:buNone/>
                      </a:pPr>
                      <a:r>
                        <a:rPr lang="de-DE">
                          <a:latin typeface="Courier New" panose="02070309020205020404" pitchFamily="49" charset="0"/>
                        </a:rPr>
                        <a:t>range_processing.py</a:t>
                      </a:r>
                      <a:endParaRPr lang="de-DE"/>
                    </a:p>
                  </a:txBody>
                  <a:tcPr anchor="ctr"/>
                </a:tc>
                <a:tc>
                  <a:txBody>
                    <a:bodyPr/>
                    <a:lstStyle/>
                    <a:p>
                      <a:pPr>
                        <a:buNone/>
                      </a:pPr>
                      <a:r>
                        <a:rPr lang="de-DE"/>
                        <a:t>Strukturierter Radar-Datenwürfel</a:t>
                      </a:r>
                    </a:p>
                  </a:txBody>
                  <a:tcPr anchor="ctr"/>
                </a:tc>
                <a:tc>
                  <a:txBody>
                    <a:bodyPr/>
                    <a:lstStyle/>
                    <a:p>
                      <a:pPr>
                        <a:buNone/>
                      </a:pPr>
                      <a:r>
                        <a:rPr lang="de-DE"/>
                        <a:t>Entfernungsprofile mit Reflexionen bei unterschiedlichen Distanzen</a:t>
                      </a:r>
                    </a:p>
                  </a:txBody>
                  <a:tcPr anchor="ctr"/>
                </a:tc>
                <a:extLst>
                  <a:ext uri="{0D108BD9-81ED-4DB2-BD59-A6C34878D82A}">
                    <a16:rowId xmlns:a16="http://schemas.microsoft.com/office/drawing/2014/main" val="2287356278"/>
                  </a:ext>
                </a:extLst>
              </a:tr>
              <a:tr h="370840">
                <a:tc>
                  <a:txBody>
                    <a:bodyPr/>
                    <a:lstStyle/>
                    <a:p>
                      <a:pPr>
                        <a:buNone/>
                      </a:pPr>
                      <a:r>
                        <a:rPr lang="de-DE" b="1"/>
                        <a:t>Personen- / ROI-Erkennung</a:t>
                      </a:r>
                      <a:endParaRPr lang="de-DE"/>
                    </a:p>
                  </a:txBody>
                  <a:tcPr anchor="ctr"/>
                </a:tc>
                <a:tc>
                  <a:txBody>
                    <a:bodyPr/>
                    <a:lstStyle/>
                    <a:p>
                      <a:pPr>
                        <a:buNone/>
                      </a:pPr>
                      <a:r>
                        <a:rPr lang="de-DE">
                          <a:latin typeface="Courier New" panose="02070309020205020404" pitchFamily="49" charset="0"/>
                        </a:rPr>
                        <a:t>angle_processing.py</a:t>
                      </a:r>
                      <a:endParaRPr lang="de-DE"/>
                    </a:p>
                  </a:txBody>
                  <a:tcPr anchor="ctr"/>
                </a:tc>
                <a:tc>
                  <a:txBody>
                    <a:bodyPr/>
                    <a:lstStyle/>
                    <a:p>
                      <a:pPr>
                        <a:buNone/>
                      </a:pPr>
                      <a:r>
                        <a:rPr lang="de-DE"/>
                        <a:t>Entfernungsprofile und Reflexionsstärke über die Zeit</a:t>
                      </a:r>
                    </a:p>
                  </a:txBody>
                  <a:tcPr anchor="ctr"/>
                </a:tc>
                <a:tc>
                  <a:txBody>
                    <a:bodyPr/>
                    <a:lstStyle/>
                    <a:p>
                      <a:pPr>
                        <a:buNone/>
                      </a:pPr>
                      <a:r>
                        <a:rPr lang="de-DE"/>
                        <a:t>Ausgewählte Person / Region of Interest für Vitalzeichenextraktion</a:t>
                      </a:r>
                    </a:p>
                  </a:txBody>
                  <a:tcPr anchor="ctr"/>
                </a:tc>
                <a:extLst>
                  <a:ext uri="{0D108BD9-81ED-4DB2-BD59-A6C34878D82A}">
                    <a16:rowId xmlns:a16="http://schemas.microsoft.com/office/drawing/2014/main" val="248254011"/>
                  </a:ext>
                </a:extLst>
              </a:tr>
              <a:tr h="370840">
                <a:tc>
                  <a:txBody>
                    <a:bodyPr/>
                    <a:lstStyle/>
                    <a:p>
                      <a:pPr>
                        <a:buNone/>
                      </a:pPr>
                      <a:r>
                        <a:rPr lang="de-DE" b="1"/>
                        <a:t>Phasenextraktion</a:t>
                      </a:r>
                      <a:endParaRPr lang="de-DE"/>
                    </a:p>
                  </a:txBody>
                  <a:tcPr anchor="ctr"/>
                </a:tc>
                <a:tc>
                  <a:txBody>
                    <a:bodyPr/>
                    <a:lstStyle/>
                    <a:p>
                      <a:pPr>
                        <a:buNone/>
                      </a:pPr>
                      <a:r>
                        <a:rPr lang="de-DE">
                          <a:latin typeface="Courier New" panose="02070309020205020404" pitchFamily="49" charset="0"/>
                        </a:rPr>
                        <a:t>vital_processing.py</a:t>
                      </a:r>
                      <a:endParaRPr lang="de-DE"/>
                    </a:p>
                  </a:txBody>
                  <a:tcPr anchor="ctr"/>
                </a:tc>
                <a:tc>
                  <a:txBody>
                    <a:bodyPr/>
                    <a:lstStyle/>
                    <a:p>
                      <a:pPr>
                        <a:buNone/>
                      </a:pPr>
                      <a:r>
                        <a:rPr lang="de-DE"/>
                        <a:t>Radarsignal aus der ausgewählten Region of Interest</a:t>
                      </a:r>
                    </a:p>
                  </a:txBody>
                  <a:tcPr anchor="ctr"/>
                </a:tc>
                <a:tc>
                  <a:txBody>
                    <a:bodyPr/>
                    <a:lstStyle/>
                    <a:p>
                      <a:pPr>
                        <a:buNone/>
                      </a:pPr>
                      <a:r>
                        <a:rPr lang="de-DE"/>
                        <a:t>Phasensignal über die Messdauer</a:t>
                      </a:r>
                    </a:p>
                  </a:txBody>
                  <a:tcPr anchor="ctr"/>
                </a:tc>
                <a:extLst>
                  <a:ext uri="{0D108BD9-81ED-4DB2-BD59-A6C34878D82A}">
                    <a16:rowId xmlns:a16="http://schemas.microsoft.com/office/drawing/2014/main" val="260961146"/>
                  </a:ext>
                </a:extLst>
              </a:tr>
              <a:tr h="370840">
                <a:tc>
                  <a:txBody>
                    <a:bodyPr/>
                    <a:lstStyle/>
                    <a:p>
                      <a:pPr>
                        <a:buNone/>
                      </a:pPr>
                      <a:r>
                        <a:rPr lang="de-DE" b="1"/>
                        <a:t>Bewegungsrekonstruktion</a:t>
                      </a:r>
                      <a:endParaRPr lang="de-DE"/>
                    </a:p>
                  </a:txBody>
                  <a:tcPr anchor="ctr"/>
                </a:tc>
                <a:tc>
                  <a:txBody>
                    <a:bodyPr/>
                    <a:lstStyle/>
                    <a:p>
                      <a:pPr>
                        <a:buNone/>
                      </a:pPr>
                      <a:r>
                        <a:rPr lang="de-DE">
                          <a:latin typeface="Courier New" panose="02070309020205020404" pitchFamily="49" charset="0"/>
                        </a:rPr>
                        <a:t>vital_processing.py</a:t>
                      </a:r>
                      <a:endParaRPr lang="de-DE"/>
                    </a:p>
                  </a:txBody>
                  <a:tcPr anchor="ctr"/>
                </a:tc>
                <a:tc>
                  <a:txBody>
                    <a:bodyPr/>
                    <a:lstStyle/>
                    <a:p>
                      <a:pPr>
                        <a:buNone/>
                      </a:pPr>
                      <a:r>
                        <a:rPr lang="de-DE"/>
                        <a:t>Phasensignal über die Zeit</a:t>
                      </a:r>
                    </a:p>
                  </a:txBody>
                  <a:tcPr anchor="ctr"/>
                </a:tc>
                <a:tc>
                  <a:txBody>
                    <a:bodyPr/>
                    <a:lstStyle/>
                    <a:p>
                      <a:pPr>
                        <a:buNone/>
                      </a:pPr>
                      <a:r>
                        <a:rPr lang="de-DE"/>
                        <a:t>Entfaltete Phase und verschiebungsähnliches Brustbewegungssignal</a:t>
                      </a:r>
                    </a:p>
                  </a:txBody>
                  <a:tcPr anchor="ctr"/>
                </a:tc>
                <a:extLst>
                  <a:ext uri="{0D108BD9-81ED-4DB2-BD59-A6C34878D82A}">
                    <a16:rowId xmlns:a16="http://schemas.microsoft.com/office/drawing/2014/main" val="2204799490"/>
                  </a:ext>
                </a:extLst>
              </a:tr>
              <a:tr h="370840">
                <a:tc>
                  <a:txBody>
                    <a:bodyPr/>
                    <a:lstStyle/>
                    <a:p>
                      <a:pPr>
                        <a:buNone/>
                      </a:pPr>
                      <a:r>
                        <a:rPr lang="de-DE" b="1"/>
                        <a:t>Filterung</a:t>
                      </a:r>
                      <a:endParaRPr lang="de-DE"/>
                    </a:p>
                  </a:txBody>
                  <a:tcPr anchor="ctr"/>
                </a:tc>
                <a:tc>
                  <a:txBody>
                    <a:bodyPr/>
                    <a:lstStyle/>
                    <a:p>
                      <a:pPr>
                        <a:buNone/>
                      </a:pPr>
                      <a:r>
                        <a:rPr lang="de-DE">
                          <a:latin typeface="Courier New" panose="02070309020205020404" pitchFamily="49" charset="0"/>
                        </a:rPr>
                        <a:t>vital_processing.py</a:t>
                      </a:r>
                      <a:endParaRPr lang="de-DE"/>
                    </a:p>
                  </a:txBody>
                  <a:tcPr anchor="ctr"/>
                </a:tc>
                <a:tc>
                  <a:txBody>
                    <a:bodyPr/>
                    <a:lstStyle/>
                    <a:p>
                      <a:pPr>
                        <a:buNone/>
                      </a:pPr>
                      <a:r>
                        <a:rPr lang="de-DE"/>
                        <a:t>Bewegungssignal mit Atmung, Herzschlag, Drift und Rauschen</a:t>
                      </a:r>
                    </a:p>
                  </a:txBody>
                  <a:tcPr anchor="ctr"/>
                </a:tc>
                <a:tc>
                  <a:txBody>
                    <a:bodyPr/>
                    <a:lstStyle/>
                    <a:p>
                      <a:pPr>
                        <a:buNone/>
                      </a:pPr>
                      <a:r>
                        <a:rPr lang="de-DE"/>
                        <a:t>Separates Atemband- und Herzband-Bewegungssignal</a:t>
                      </a:r>
                    </a:p>
                  </a:txBody>
                  <a:tcPr anchor="ctr"/>
                </a:tc>
                <a:extLst>
                  <a:ext uri="{0D108BD9-81ED-4DB2-BD59-A6C34878D82A}">
                    <a16:rowId xmlns:a16="http://schemas.microsoft.com/office/drawing/2014/main" val="2566349082"/>
                  </a:ext>
                </a:extLst>
              </a:tr>
              <a:tr h="370840">
                <a:tc>
                  <a:txBody>
                    <a:bodyPr/>
                    <a:lstStyle/>
                    <a:p>
                      <a:pPr>
                        <a:buNone/>
                      </a:pPr>
                      <a:r>
                        <a:rPr lang="de-DE" b="1"/>
                        <a:t>Frequenzschätzung</a:t>
                      </a:r>
                      <a:endParaRPr lang="de-DE"/>
                    </a:p>
                  </a:txBody>
                  <a:tcPr anchor="ctr"/>
                </a:tc>
                <a:tc>
                  <a:txBody>
                    <a:bodyPr/>
                    <a:lstStyle/>
                    <a:p>
                      <a:pPr>
                        <a:buNone/>
                      </a:pPr>
                      <a:r>
                        <a:rPr lang="de-DE">
                          <a:latin typeface="Courier New" panose="02070309020205020404" pitchFamily="49" charset="0"/>
                        </a:rPr>
                        <a:t>vital_processing.py</a:t>
                      </a:r>
                      <a:endParaRPr lang="de-DE"/>
                    </a:p>
                  </a:txBody>
                  <a:tcPr anchor="ctr"/>
                </a:tc>
                <a:tc>
                  <a:txBody>
                    <a:bodyPr/>
                    <a:lstStyle/>
                    <a:p>
                      <a:pPr>
                        <a:buNone/>
                      </a:pPr>
                      <a:r>
                        <a:rPr lang="de-DE"/>
                        <a:t>Gefilterte Atem- und Herzbandsignale</a:t>
                      </a:r>
                    </a:p>
                  </a:txBody>
                  <a:tcPr anchor="ctr"/>
                </a:tc>
                <a:tc>
                  <a:txBody>
                    <a:bodyPr/>
                    <a:lstStyle/>
                    <a:p>
                      <a:pPr>
                        <a:buNone/>
                      </a:pPr>
                      <a:r>
                        <a:rPr lang="de-DE"/>
                        <a:t>Geschätzte Atemfrequenz und Herzfrequenz</a:t>
                      </a:r>
                    </a:p>
                  </a:txBody>
                  <a:tcPr anchor="ctr"/>
                </a:tc>
                <a:extLst>
                  <a:ext uri="{0D108BD9-81ED-4DB2-BD59-A6C34878D82A}">
                    <a16:rowId xmlns:a16="http://schemas.microsoft.com/office/drawing/2014/main" val="4292209916"/>
                  </a:ext>
                </a:extLst>
              </a:tr>
              <a:tr h="370840">
                <a:tc>
                  <a:txBody>
                    <a:bodyPr/>
                    <a:lstStyle/>
                    <a:p>
                      <a:pPr>
                        <a:buNone/>
                      </a:pPr>
                      <a:r>
                        <a:rPr lang="de-DE" b="1"/>
                        <a:t>Finale Visualisierung</a:t>
                      </a:r>
                      <a:endParaRPr lang="de-DE"/>
                    </a:p>
                  </a:txBody>
                  <a:tcPr anchor="ctr"/>
                </a:tc>
                <a:tc>
                  <a:txBody>
                    <a:bodyPr/>
                    <a:lstStyle/>
                    <a:p>
                      <a:pPr>
                        <a:buNone/>
                      </a:pPr>
                      <a:r>
                        <a:rPr lang="de-DE">
                          <a:latin typeface="Courier New" panose="02070309020205020404" pitchFamily="49" charset="0"/>
                        </a:rPr>
                        <a:t>plotting.py</a:t>
                      </a:r>
                      <a:endParaRPr lang="de-DE"/>
                    </a:p>
                  </a:txBody>
                  <a:tcPr anchor="ctr"/>
                </a:tc>
                <a:tc>
                  <a:txBody>
                    <a:bodyPr/>
                    <a:lstStyle/>
                    <a:p>
                      <a:pPr>
                        <a:buNone/>
                      </a:pPr>
                      <a:r>
                        <a:rPr lang="de-DE"/>
                        <a:t>Geschätzte Frequenzen und verarbeitete Signale</a:t>
                      </a:r>
                    </a:p>
                  </a:txBody>
                  <a:tcPr anchor="ctr"/>
                </a:tc>
                <a:tc>
                  <a:txBody>
                    <a:bodyPr/>
                    <a:lstStyle/>
                    <a:p>
                      <a:pPr>
                        <a:buNone/>
                      </a:pPr>
                      <a:r>
                        <a:rPr lang="de-DE"/>
                        <a:t>Dashboard mit der finalen Vitalzeichenanalyse</a:t>
                      </a:r>
                    </a:p>
                  </a:txBody>
                  <a:tcPr anchor="ctr"/>
                </a:tc>
                <a:extLst>
                  <a:ext uri="{0D108BD9-81ED-4DB2-BD59-A6C34878D82A}">
                    <a16:rowId xmlns:a16="http://schemas.microsoft.com/office/drawing/2014/main" val="410244295"/>
                  </a:ext>
                </a:extLst>
              </a:tr>
              <a:tr h="370840">
                <a:tc>
                  <a:txBody>
                    <a:bodyPr/>
                    <a:lstStyle/>
                    <a:p>
                      <a:pPr>
                        <a:buNone/>
                      </a:pPr>
                      <a:r>
                        <a:rPr lang="de-DE" b="1"/>
                        <a:t>Gemeinsame Hilfsfunktionen</a:t>
                      </a:r>
                      <a:endParaRPr lang="de-DE"/>
                    </a:p>
                  </a:txBody>
                  <a:tcPr anchor="ctr"/>
                </a:tc>
                <a:tc>
                  <a:txBody>
                    <a:bodyPr/>
                    <a:lstStyle/>
                    <a:p>
                      <a:pPr>
                        <a:buNone/>
                      </a:pPr>
                      <a:r>
                        <a:rPr lang="de-DE">
                          <a:latin typeface="Courier New" panose="02070309020205020404" pitchFamily="49" charset="0"/>
                        </a:rPr>
                        <a:t>common.py</a:t>
                      </a:r>
                      <a:endParaRPr lang="de-DE"/>
                    </a:p>
                  </a:txBody>
                  <a:tcPr anchor="ctr"/>
                </a:tc>
                <a:tc>
                  <a:txBody>
                    <a:bodyPr/>
                    <a:lstStyle/>
                    <a:p>
                      <a:pPr>
                        <a:buNone/>
                      </a:pPr>
                      <a:r>
                        <a:rPr lang="de-DE"/>
                        <a:t>Gemeinsame Konstanten, Hilfsfunktionen und Utility-Logik</a:t>
                      </a:r>
                    </a:p>
                  </a:txBody>
                  <a:tcPr anchor="ctr"/>
                </a:tc>
                <a:tc>
                  <a:txBody>
                    <a:bodyPr/>
                    <a:lstStyle/>
                    <a:p>
                      <a:pPr>
                        <a:buNone/>
                      </a:pPr>
                      <a:r>
                        <a:rPr lang="de-DE" dirty="0"/>
                        <a:t>Unterstützende Funktionen für die gesamte Verarbeitungskette</a:t>
                      </a:r>
                    </a:p>
                  </a:txBody>
                  <a:tcPr anchor="ctr"/>
                </a:tc>
                <a:extLst>
                  <a:ext uri="{0D108BD9-81ED-4DB2-BD59-A6C34878D82A}">
                    <a16:rowId xmlns:a16="http://schemas.microsoft.com/office/drawing/2014/main" val="2904827181"/>
                  </a:ext>
                </a:extLst>
              </a:tr>
            </a:tbl>
          </a:graphicData>
        </a:graphic>
      </p:graphicFrame>
    </p:spTree>
    <p:extLst>
      <p:ext uri="{BB962C8B-B14F-4D97-AF65-F5344CB8AC3E}">
        <p14:creationId xmlns:p14="http://schemas.microsoft.com/office/powerpoint/2010/main" val="925703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1BC667-BE21-65FF-9967-45EFC85C052E}"/>
              </a:ext>
            </a:extLst>
          </p:cNvPr>
          <p:cNvSpPr>
            <a:spLocks noGrp="1"/>
          </p:cNvSpPr>
          <p:nvPr>
            <p:ph type="title"/>
          </p:nvPr>
        </p:nvSpPr>
        <p:spPr/>
        <p:txBody>
          <a:bodyPr/>
          <a:lstStyle/>
          <a:p>
            <a:r>
              <a:rPr lang="de-DE" dirty="0"/>
              <a:t>Rohdatenrekonstruktion</a:t>
            </a:r>
          </a:p>
        </p:txBody>
      </p:sp>
      <p:sp>
        <p:nvSpPr>
          <p:cNvPr id="3" name="Inhaltsplatzhalter 2">
            <a:extLst>
              <a:ext uri="{FF2B5EF4-FFF2-40B4-BE49-F238E27FC236}">
                <a16:creationId xmlns:a16="http://schemas.microsoft.com/office/drawing/2014/main" id="{507CCC08-BB10-337D-2735-CAB5F1F3669E}"/>
              </a:ext>
            </a:extLst>
          </p:cNvPr>
          <p:cNvSpPr>
            <a:spLocks noGrp="1"/>
          </p:cNvSpPr>
          <p:nvPr>
            <p:ph idx="1"/>
          </p:nvPr>
        </p:nvSpPr>
        <p:spPr/>
        <p:txBody>
          <a:bodyPr>
            <a:normAutofit fontScale="92500" lnSpcReduction="20000"/>
          </a:bodyPr>
          <a:lstStyle/>
          <a:p>
            <a:pPr marL="0" indent="0">
              <a:buNone/>
            </a:pPr>
            <a:r>
              <a:rPr lang="de-DE" dirty="0"/>
              <a:t>Von </a:t>
            </a:r>
            <a:r>
              <a:rPr lang="de-DE" dirty="0" err="1"/>
              <a:t>mmWave</a:t>
            </a:r>
            <a:r>
              <a:rPr lang="de-DE" dirty="0"/>
              <a:t>-Studio-Ausgabe zu strukturierten Radar-Frames</a:t>
            </a:r>
          </a:p>
          <a:p>
            <a:r>
              <a:rPr lang="de-DE" dirty="0" err="1"/>
              <a:t>mmWave</a:t>
            </a:r>
            <a:r>
              <a:rPr lang="de-DE" dirty="0"/>
              <a:t> Studio rohe ADC-Dateien mit unterschiedlichen Radarkonfigurationen erzeugen</a:t>
            </a:r>
          </a:p>
          <a:p>
            <a:r>
              <a:rPr lang="de-DE" dirty="0"/>
              <a:t>Der Code liest verfügbare Konfigurationsquellen ein und passt die Rekonstruktion automatisch an</a:t>
            </a:r>
          </a:p>
          <a:p>
            <a:r>
              <a:rPr lang="de-DE" dirty="0"/>
              <a:t>Rohe Binärdaten werden in Frames, </a:t>
            </a:r>
            <a:r>
              <a:rPr lang="de-DE" dirty="0" err="1"/>
              <a:t>Chrips</a:t>
            </a:r>
            <a:r>
              <a:rPr lang="de-DE" dirty="0"/>
              <a:t>, Empfangskanäle und ADC-Samples umgeformt</a:t>
            </a:r>
          </a:p>
          <a:p>
            <a:r>
              <a:rPr lang="de-DE" dirty="0"/>
              <a:t>Der rekonstruierte Datenwürfel ist die notwendige Eingabe für alle weiteren Verarbeitungsschritte</a:t>
            </a:r>
          </a:p>
          <a:p>
            <a:r>
              <a:rPr lang="de-DE" dirty="0"/>
              <a:t>Typische Projektkonfiguration: 77 GHz Startfrequenz, 256 ADC-Samples, 4 RX-Kanäle, komplexe IQ-Daten, 2 LVDS-Lanes, 20 Hz Frame-Rate</a:t>
            </a:r>
          </a:p>
        </p:txBody>
      </p:sp>
    </p:spTree>
    <p:extLst>
      <p:ext uri="{BB962C8B-B14F-4D97-AF65-F5344CB8AC3E}">
        <p14:creationId xmlns:p14="http://schemas.microsoft.com/office/powerpoint/2010/main" val="3189683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6C1D77-2556-6AF6-66A1-03E947459090}"/>
              </a:ext>
            </a:extLst>
          </p:cNvPr>
          <p:cNvSpPr>
            <a:spLocks noGrp="1"/>
          </p:cNvSpPr>
          <p:nvPr>
            <p:ph type="title"/>
          </p:nvPr>
        </p:nvSpPr>
        <p:spPr/>
        <p:txBody>
          <a:bodyPr/>
          <a:lstStyle/>
          <a:p>
            <a:r>
              <a:rPr lang="de-DE" dirty="0"/>
              <a:t>Rohdatenrekonstruktion</a:t>
            </a:r>
          </a:p>
        </p:txBody>
      </p:sp>
      <p:graphicFrame>
        <p:nvGraphicFramePr>
          <p:cNvPr id="4" name="Inhaltsplatzhalter 3">
            <a:extLst>
              <a:ext uri="{FF2B5EF4-FFF2-40B4-BE49-F238E27FC236}">
                <a16:creationId xmlns:a16="http://schemas.microsoft.com/office/drawing/2014/main" id="{2C4A2ECE-3AB6-B430-082E-F56EFC85F0E7}"/>
              </a:ext>
            </a:extLst>
          </p:cNvPr>
          <p:cNvGraphicFramePr>
            <a:graphicFrameLocks noGrp="1"/>
          </p:cNvGraphicFramePr>
          <p:nvPr>
            <p:ph idx="1"/>
            <p:extLst>
              <p:ext uri="{D42A27DB-BD31-4B8C-83A1-F6EECF244321}">
                <p14:modId xmlns:p14="http://schemas.microsoft.com/office/powerpoint/2010/main" val="959320078"/>
              </p:ext>
            </p:extLst>
          </p:nvPr>
        </p:nvGraphicFramePr>
        <p:xfrm>
          <a:off x="838200" y="1825625"/>
          <a:ext cx="10515600" cy="44500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071084298"/>
                    </a:ext>
                  </a:extLst>
                </a:gridCol>
                <a:gridCol w="5257800">
                  <a:extLst>
                    <a:ext uri="{9D8B030D-6E8A-4147-A177-3AD203B41FA5}">
                      <a16:colId xmlns:a16="http://schemas.microsoft.com/office/drawing/2014/main" val="1051693489"/>
                    </a:ext>
                  </a:extLst>
                </a:gridCol>
              </a:tblGrid>
              <a:tr h="370840">
                <a:tc>
                  <a:txBody>
                    <a:bodyPr/>
                    <a:lstStyle/>
                    <a:p>
                      <a:pPr>
                        <a:buNone/>
                      </a:pPr>
                      <a:r>
                        <a:rPr lang="de-DE" dirty="0"/>
                        <a:t>Parameter</a:t>
                      </a:r>
                    </a:p>
                  </a:txBody>
                  <a:tcPr anchor="ctr"/>
                </a:tc>
                <a:tc>
                  <a:txBody>
                    <a:bodyPr/>
                    <a:lstStyle/>
                    <a:p>
                      <a:pPr algn="r">
                        <a:buNone/>
                      </a:pPr>
                      <a:r>
                        <a:rPr lang="de-DE"/>
                        <a:t>Typischer Projektwert</a:t>
                      </a:r>
                    </a:p>
                  </a:txBody>
                  <a:tcPr anchor="ctr"/>
                </a:tc>
                <a:extLst>
                  <a:ext uri="{0D108BD9-81ED-4DB2-BD59-A6C34878D82A}">
                    <a16:rowId xmlns:a16="http://schemas.microsoft.com/office/drawing/2014/main" val="2894848951"/>
                  </a:ext>
                </a:extLst>
              </a:tr>
              <a:tr h="370840">
                <a:tc>
                  <a:txBody>
                    <a:bodyPr/>
                    <a:lstStyle/>
                    <a:p>
                      <a:pPr>
                        <a:buNone/>
                      </a:pPr>
                      <a:r>
                        <a:rPr lang="de-DE"/>
                        <a:t>Startfrequenz</a:t>
                      </a:r>
                    </a:p>
                  </a:txBody>
                  <a:tcPr anchor="ctr"/>
                </a:tc>
                <a:tc>
                  <a:txBody>
                    <a:bodyPr/>
                    <a:lstStyle/>
                    <a:p>
                      <a:pPr algn="r">
                        <a:buNone/>
                      </a:pPr>
                      <a:r>
                        <a:rPr lang="de-DE"/>
                        <a:t>77 GHz</a:t>
                      </a:r>
                    </a:p>
                  </a:txBody>
                  <a:tcPr anchor="ctr"/>
                </a:tc>
                <a:extLst>
                  <a:ext uri="{0D108BD9-81ED-4DB2-BD59-A6C34878D82A}">
                    <a16:rowId xmlns:a16="http://schemas.microsoft.com/office/drawing/2014/main" val="2781276706"/>
                  </a:ext>
                </a:extLst>
              </a:tr>
              <a:tr h="370840">
                <a:tc>
                  <a:txBody>
                    <a:bodyPr/>
                    <a:lstStyle/>
                    <a:p>
                      <a:pPr>
                        <a:buNone/>
                      </a:pPr>
                      <a:r>
                        <a:rPr lang="de-DE"/>
                        <a:t>ADC-Samples pro Chirp</a:t>
                      </a:r>
                    </a:p>
                  </a:txBody>
                  <a:tcPr anchor="ctr"/>
                </a:tc>
                <a:tc>
                  <a:txBody>
                    <a:bodyPr/>
                    <a:lstStyle/>
                    <a:p>
                      <a:pPr algn="r">
                        <a:buNone/>
                      </a:pPr>
                      <a:r>
                        <a:rPr lang="de-DE"/>
                        <a:t>256</a:t>
                      </a:r>
                    </a:p>
                  </a:txBody>
                  <a:tcPr anchor="ctr"/>
                </a:tc>
                <a:extLst>
                  <a:ext uri="{0D108BD9-81ED-4DB2-BD59-A6C34878D82A}">
                    <a16:rowId xmlns:a16="http://schemas.microsoft.com/office/drawing/2014/main" val="1452427887"/>
                  </a:ext>
                </a:extLst>
              </a:tr>
              <a:tr h="370840">
                <a:tc>
                  <a:txBody>
                    <a:bodyPr/>
                    <a:lstStyle/>
                    <a:p>
                      <a:pPr>
                        <a:buNone/>
                      </a:pPr>
                      <a:r>
                        <a:rPr lang="de-DE"/>
                        <a:t>ADC-Format</a:t>
                      </a:r>
                    </a:p>
                  </a:txBody>
                  <a:tcPr anchor="ctr"/>
                </a:tc>
                <a:tc>
                  <a:txBody>
                    <a:bodyPr/>
                    <a:lstStyle/>
                    <a:p>
                      <a:pPr algn="r">
                        <a:buNone/>
                      </a:pPr>
                      <a:r>
                        <a:rPr lang="de-DE"/>
                        <a:t>16-bit komplexes IQ</a:t>
                      </a:r>
                    </a:p>
                  </a:txBody>
                  <a:tcPr anchor="ctr"/>
                </a:tc>
                <a:extLst>
                  <a:ext uri="{0D108BD9-81ED-4DB2-BD59-A6C34878D82A}">
                    <a16:rowId xmlns:a16="http://schemas.microsoft.com/office/drawing/2014/main" val="2197763570"/>
                  </a:ext>
                </a:extLst>
              </a:tr>
              <a:tr h="370840">
                <a:tc>
                  <a:txBody>
                    <a:bodyPr/>
                    <a:lstStyle/>
                    <a:p>
                      <a:pPr>
                        <a:buNone/>
                      </a:pPr>
                      <a:r>
                        <a:rPr lang="de-DE"/>
                        <a:t>Empfangskanäle</a:t>
                      </a:r>
                    </a:p>
                  </a:txBody>
                  <a:tcPr anchor="ctr"/>
                </a:tc>
                <a:tc>
                  <a:txBody>
                    <a:bodyPr/>
                    <a:lstStyle/>
                    <a:p>
                      <a:pPr algn="r">
                        <a:buNone/>
                      </a:pPr>
                      <a:r>
                        <a:rPr lang="de-DE"/>
                        <a:t>4 RX</a:t>
                      </a:r>
                    </a:p>
                  </a:txBody>
                  <a:tcPr anchor="ctr"/>
                </a:tc>
                <a:extLst>
                  <a:ext uri="{0D108BD9-81ED-4DB2-BD59-A6C34878D82A}">
                    <a16:rowId xmlns:a16="http://schemas.microsoft.com/office/drawing/2014/main" val="3631392492"/>
                  </a:ext>
                </a:extLst>
              </a:tr>
              <a:tr h="370840">
                <a:tc>
                  <a:txBody>
                    <a:bodyPr/>
                    <a:lstStyle/>
                    <a:p>
                      <a:pPr>
                        <a:buNone/>
                      </a:pPr>
                      <a:r>
                        <a:rPr lang="de-DE"/>
                        <a:t>LVDS-Lanes</a:t>
                      </a:r>
                    </a:p>
                  </a:txBody>
                  <a:tcPr anchor="ctr"/>
                </a:tc>
                <a:tc>
                  <a:txBody>
                    <a:bodyPr/>
                    <a:lstStyle/>
                    <a:p>
                      <a:pPr algn="r">
                        <a:buNone/>
                      </a:pPr>
                      <a:r>
                        <a:rPr lang="de-DE"/>
                        <a:t>2</a:t>
                      </a:r>
                    </a:p>
                  </a:txBody>
                  <a:tcPr anchor="ctr"/>
                </a:tc>
                <a:extLst>
                  <a:ext uri="{0D108BD9-81ED-4DB2-BD59-A6C34878D82A}">
                    <a16:rowId xmlns:a16="http://schemas.microsoft.com/office/drawing/2014/main" val="4285446460"/>
                  </a:ext>
                </a:extLst>
              </a:tr>
              <a:tr h="370840">
                <a:tc>
                  <a:txBody>
                    <a:bodyPr/>
                    <a:lstStyle/>
                    <a:p>
                      <a:pPr>
                        <a:buNone/>
                      </a:pPr>
                      <a:r>
                        <a:rPr lang="de-DE"/>
                        <a:t>Abtastrate</a:t>
                      </a:r>
                    </a:p>
                  </a:txBody>
                  <a:tcPr anchor="ctr"/>
                </a:tc>
                <a:tc>
                  <a:txBody>
                    <a:bodyPr/>
                    <a:lstStyle/>
                    <a:p>
                      <a:pPr algn="r">
                        <a:buNone/>
                      </a:pPr>
                      <a:r>
                        <a:rPr lang="de-DE"/>
                        <a:t>10.000 ksps</a:t>
                      </a:r>
                    </a:p>
                  </a:txBody>
                  <a:tcPr anchor="ctr"/>
                </a:tc>
                <a:extLst>
                  <a:ext uri="{0D108BD9-81ED-4DB2-BD59-A6C34878D82A}">
                    <a16:rowId xmlns:a16="http://schemas.microsoft.com/office/drawing/2014/main" val="2223206812"/>
                  </a:ext>
                </a:extLst>
              </a:tr>
              <a:tr h="370840">
                <a:tc>
                  <a:txBody>
                    <a:bodyPr/>
                    <a:lstStyle/>
                    <a:p>
                      <a:pPr>
                        <a:buNone/>
                      </a:pPr>
                      <a:r>
                        <a:rPr lang="de-DE"/>
                        <a:t>Frequenzanstieg</a:t>
                      </a:r>
                    </a:p>
                  </a:txBody>
                  <a:tcPr anchor="ctr"/>
                </a:tc>
                <a:tc>
                  <a:txBody>
                    <a:bodyPr/>
                    <a:lstStyle/>
                    <a:p>
                      <a:pPr algn="r">
                        <a:buNone/>
                      </a:pPr>
                      <a:r>
                        <a:rPr lang="de-DE"/>
                        <a:t>ca. 29,98 MHz/µs</a:t>
                      </a:r>
                    </a:p>
                  </a:txBody>
                  <a:tcPr anchor="ctr"/>
                </a:tc>
                <a:extLst>
                  <a:ext uri="{0D108BD9-81ED-4DB2-BD59-A6C34878D82A}">
                    <a16:rowId xmlns:a16="http://schemas.microsoft.com/office/drawing/2014/main" val="1552144451"/>
                  </a:ext>
                </a:extLst>
              </a:tr>
              <a:tr h="370840">
                <a:tc>
                  <a:txBody>
                    <a:bodyPr/>
                    <a:lstStyle/>
                    <a:p>
                      <a:pPr>
                        <a:buNone/>
                      </a:pPr>
                      <a:r>
                        <a:rPr lang="de-DE"/>
                        <a:t>Chirps pro Frame</a:t>
                      </a:r>
                    </a:p>
                  </a:txBody>
                  <a:tcPr anchor="ctr"/>
                </a:tc>
                <a:tc>
                  <a:txBody>
                    <a:bodyPr/>
                    <a:lstStyle/>
                    <a:p>
                      <a:pPr algn="r">
                        <a:buNone/>
                      </a:pPr>
                      <a:r>
                        <a:rPr lang="de-DE"/>
                        <a:t>4</a:t>
                      </a:r>
                    </a:p>
                  </a:txBody>
                  <a:tcPr anchor="ctr"/>
                </a:tc>
                <a:extLst>
                  <a:ext uri="{0D108BD9-81ED-4DB2-BD59-A6C34878D82A}">
                    <a16:rowId xmlns:a16="http://schemas.microsoft.com/office/drawing/2014/main" val="3883888265"/>
                  </a:ext>
                </a:extLst>
              </a:tr>
              <a:tr h="370840">
                <a:tc>
                  <a:txBody>
                    <a:bodyPr/>
                    <a:lstStyle/>
                    <a:p>
                      <a:pPr>
                        <a:buNone/>
                      </a:pPr>
                      <a:r>
                        <a:rPr lang="de-DE"/>
                        <a:t>Konfigurierte Frames</a:t>
                      </a:r>
                    </a:p>
                  </a:txBody>
                  <a:tcPr anchor="ctr"/>
                </a:tc>
                <a:tc>
                  <a:txBody>
                    <a:bodyPr/>
                    <a:lstStyle/>
                    <a:p>
                      <a:pPr algn="r">
                        <a:buNone/>
                      </a:pPr>
                      <a:r>
                        <a:rPr lang="de-DE"/>
                        <a:t>1200</a:t>
                      </a:r>
                    </a:p>
                  </a:txBody>
                  <a:tcPr anchor="ctr"/>
                </a:tc>
                <a:extLst>
                  <a:ext uri="{0D108BD9-81ED-4DB2-BD59-A6C34878D82A}">
                    <a16:rowId xmlns:a16="http://schemas.microsoft.com/office/drawing/2014/main" val="2549465995"/>
                  </a:ext>
                </a:extLst>
              </a:tr>
              <a:tr h="370840">
                <a:tc>
                  <a:txBody>
                    <a:bodyPr/>
                    <a:lstStyle/>
                    <a:p>
                      <a:pPr>
                        <a:buNone/>
                      </a:pPr>
                      <a:r>
                        <a:rPr lang="de-DE"/>
                        <a:t>Frame-Periode</a:t>
                      </a:r>
                    </a:p>
                  </a:txBody>
                  <a:tcPr anchor="ctr"/>
                </a:tc>
                <a:tc>
                  <a:txBody>
                    <a:bodyPr/>
                    <a:lstStyle/>
                    <a:p>
                      <a:pPr algn="r">
                        <a:buNone/>
                      </a:pPr>
                      <a:r>
                        <a:rPr lang="de-DE"/>
                        <a:t>50 ms</a:t>
                      </a:r>
                    </a:p>
                  </a:txBody>
                  <a:tcPr anchor="ctr"/>
                </a:tc>
                <a:extLst>
                  <a:ext uri="{0D108BD9-81ED-4DB2-BD59-A6C34878D82A}">
                    <a16:rowId xmlns:a16="http://schemas.microsoft.com/office/drawing/2014/main" val="2086308938"/>
                  </a:ext>
                </a:extLst>
              </a:tr>
              <a:tr h="370840">
                <a:tc>
                  <a:txBody>
                    <a:bodyPr/>
                    <a:lstStyle/>
                    <a:p>
                      <a:pPr>
                        <a:buNone/>
                      </a:pPr>
                      <a:r>
                        <a:rPr lang="de-DE"/>
                        <a:t>Frame-Rate</a:t>
                      </a:r>
                    </a:p>
                  </a:txBody>
                  <a:tcPr anchor="ctr"/>
                </a:tc>
                <a:tc>
                  <a:txBody>
                    <a:bodyPr/>
                    <a:lstStyle/>
                    <a:p>
                      <a:pPr algn="r">
                        <a:buNone/>
                      </a:pPr>
                      <a:r>
                        <a:rPr lang="de-DE" dirty="0"/>
                        <a:t>20 Hz</a:t>
                      </a:r>
                    </a:p>
                  </a:txBody>
                  <a:tcPr anchor="ctr"/>
                </a:tc>
                <a:extLst>
                  <a:ext uri="{0D108BD9-81ED-4DB2-BD59-A6C34878D82A}">
                    <a16:rowId xmlns:a16="http://schemas.microsoft.com/office/drawing/2014/main" val="1650726022"/>
                  </a:ext>
                </a:extLst>
              </a:tr>
            </a:tbl>
          </a:graphicData>
        </a:graphic>
      </p:graphicFrame>
    </p:spTree>
    <p:extLst>
      <p:ext uri="{BB962C8B-B14F-4D97-AF65-F5344CB8AC3E}">
        <p14:creationId xmlns:p14="http://schemas.microsoft.com/office/powerpoint/2010/main" val="614460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0BD9A1-DF6A-36CF-E180-9A8AF1F56BE6}"/>
              </a:ext>
            </a:extLst>
          </p:cNvPr>
          <p:cNvSpPr>
            <a:spLocks noGrp="1"/>
          </p:cNvSpPr>
          <p:nvPr>
            <p:ph type="title"/>
          </p:nvPr>
        </p:nvSpPr>
        <p:spPr/>
        <p:txBody>
          <a:bodyPr/>
          <a:lstStyle/>
          <a:p>
            <a:r>
              <a:rPr lang="de-DE" dirty="0"/>
              <a:t>Reflexionen nach Entfernung trennen</a:t>
            </a:r>
          </a:p>
        </p:txBody>
      </p:sp>
      <p:sp>
        <p:nvSpPr>
          <p:cNvPr id="3" name="Inhaltsplatzhalter 2">
            <a:extLst>
              <a:ext uri="{FF2B5EF4-FFF2-40B4-BE49-F238E27FC236}">
                <a16:creationId xmlns:a16="http://schemas.microsoft.com/office/drawing/2014/main" id="{780E90BC-339A-F19C-B5A9-77E37383E773}"/>
              </a:ext>
            </a:extLst>
          </p:cNvPr>
          <p:cNvSpPr>
            <a:spLocks noGrp="1"/>
          </p:cNvSpPr>
          <p:nvPr>
            <p:ph sz="half" idx="1"/>
          </p:nvPr>
        </p:nvSpPr>
        <p:spPr/>
        <p:txBody>
          <a:bodyPr>
            <a:normAutofit fontScale="62500" lnSpcReduction="20000"/>
          </a:bodyPr>
          <a:lstStyle/>
          <a:p>
            <a:pPr marL="0" indent="0">
              <a:buNone/>
            </a:pPr>
            <a:r>
              <a:rPr lang="de-DE" dirty="0"/>
              <a:t>Entfernungsverarbeitung</a:t>
            </a:r>
          </a:p>
          <a:p>
            <a:r>
              <a:rPr lang="de-DE" dirty="0"/>
              <a:t>Jeder gesendete </a:t>
            </a:r>
            <a:r>
              <a:rPr lang="de-DE" dirty="0" err="1"/>
              <a:t>Chirp</a:t>
            </a:r>
            <a:r>
              <a:rPr lang="de-DE" dirty="0"/>
              <a:t> durchläuft einen Frequenzbereich</a:t>
            </a:r>
          </a:p>
          <a:p>
            <a:r>
              <a:rPr lang="de-DE" dirty="0"/>
              <a:t>Eine Reflexion von einem weiter entfernten Objekt kommt etwas später zurück als eine Reflexion von einem näheren Objekt</a:t>
            </a:r>
          </a:p>
          <a:p>
            <a:r>
              <a:rPr lang="de-DE" dirty="0"/>
              <a:t>Nach dem Mischen von Sende- und Empfangssignal erscheint diese Zeitverzögerung als charakteristische Beat-Frequenzen</a:t>
            </a:r>
          </a:p>
          <a:p>
            <a:r>
              <a:rPr lang="de-DE" dirty="0"/>
              <a:t>Eine </a:t>
            </a:r>
            <a:r>
              <a:rPr lang="de-DE" dirty="0" err="1"/>
              <a:t>Fouriert</a:t>
            </a:r>
            <a:r>
              <a:rPr lang="de-DE" dirty="0"/>
              <a:t>-Transformation trennt diese Beat-Frequenzen</a:t>
            </a:r>
          </a:p>
          <a:p>
            <a:r>
              <a:rPr lang="de-DE" dirty="0"/>
              <a:t>Jede Frequenzkomponente entspricht einem Entfernungsbereich</a:t>
            </a:r>
          </a:p>
          <a:p>
            <a:r>
              <a:rPr lang="de-DE" dirty="0"/>
              <a:t>Starke Entfernungsbereiche deuten auf Objekte oder Körperregionen in der Szene hin</a:t>
            </a:r>
          </a:p>
        </p:txBody>
      </p:sp>
      <p:pic>
        <p:nvPicPr>
          <p:cNvPr id="5" name="Inhaltsplatzhalter 4">
            <a:extLst>
              <a:ext uri="{FF2B5EF4-FFF2-40B4-BE49-F238E27FC236}">
                <a16:creationId xmlns:a16="http://schemas.microsoft.com/office/drawing/2014/main" id="{4A0EE950-FBD4-1401-518A-D5F4FFB13DD2}"/>
              </a:ext>
            </a:extLst>
          </p:cNvPr>
          <p:cNvPicPr>
            <a:picLocks noGrp="1" noChangeAspect="1"/>
          </p:cNvPicPr>
          <p:nvPr>
            <p:ph sz="half" idx="2"/>
          </p:nvPr>
        </p:nvPicPr>
        <p:blipFill>
          <a:blip r:embed="rId2"/>
          <a:stretch>
            <a:fillRect/>
          </a:stretch>
        </p:blipFill>
        <p:spPr>
          <a:xfrm>
            <a:off x="7134071" y="1825625"/>
            <a:ext cx="3257858" cy="4351338"/>
          </a:xfrm>
          <a:prstGeom prst="rect">
            <a:avLst/>
          </a:prstGeom>
        </p:spPr>
      </p:pic>
    </p:spTree>
    <p:extLst>
      <p:ext uri="{BB962C8B-B14F-4D97-AF65-F5344CB8AC3E}">
        <p14:creationId xmlns:p14="http://schemas.microsoft.com/office/powerpoint/2010/main" val="240487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7F9291-D582-B902-2538-13CBA0870851}"/>
              </a:ext>
            </a:extLst>
          </p:cNvPr>
          <p:cNvSpPr>
            <a:spLocks noGrp="1"/>
          </p:cNvSpPr>
          <p:nvPr>
            <p:ph type="title"/>
          </p:nvPr>
        </p:nvSpPr>
        <p:spPr/>
        <p:txBody>
          <a:bodyPr/>
          <a:lstStyle/>
          <a:p>
            <a:r>
              <a:rPr lang="de-DE" dirty="0"/>
              <a:t>Die Reflexion mit Brustbewegung finden</a:t>
            </a:r>
          </a:p>
        </p:txBody>
      </p:sp>
      <p:sp>
        <p:nvSpPr>
          <p:cNvPr id="3" name="Inhaltsplatzhalter 2">
            <a:extLst>
              <a:ext uri="{FF2B5EF4-FFF2-40B4-BE49-F238E27FC236}">
                <a16:creationId xmlns:a16="http://schemas.microsoft.com/office/drawing/2014/main" id="{AB3266FA-CCEF-2734-32CD-FC7952C57E67}"/>
              </a:ext>
            </a:extLst>
          </p:cNvPr>
          <p:cNvSpPr>
            <a:spLocks noGrp="1"/>
          </p:cNvSpPr>
          <p:nvPr>
            <p:ph idx="1"/>
          </p:nvPr>
        </p:nvSpPr>
        <p:spPr/>
        <p:txBody>
          <a:bodyPr>
            <a:normAutofit fontScale="92500" lnSpcReduction="20000"/>
          </a:bodyPr>
          <a:lstStyle/>
          <a:p>
            <a:pPr marL="0" indent="0">
              <a:buNone/>
            </a:pPr>
            <a:r>
              <a:rPr lang="de-DE" dirty="0"/>
              <a:t>Objekt-/Personenerkennung</a:t>
            </a:r>
          </a:p>
          <a:p>
            <a:r>
              <a:rPr lang="de-DE" dirty="0"/>
              <a:t>Das Radar empfängt Reflexionen von Personen und statischen Objekten</a:t>
            </a:r>
          </a:p>
          <a:p>
            <a:r>
              <a:rPr lang="de-DE" dirty="0"/>
              <a:t>Statische Objekte sind oft starke Reflektoren, zeigen aber keine physiologische Bewegung</a:t>
            </a:r>
          </a:p>
          <a:p>
            <a:r>
              <a:rPr lang="de-DE" dirty="0"/>
              <a:t>Der Algorithmus sucht nach Bereichen mit ausreichender Reflexionsstärke und nutzbarer Phasenstabilität</a:t>
            </a:r>
          </a:p>
          <a:p>
            <a:r>
              <a:rPr lang="de-DE" dirty="0"/>
              <a:t>Kandidatenbereiche werden auf Bewegungsanteile in plausiblen Atem- und Herzfrequenzbändern geprüft</a:t>
            </a:r>
          </a:p>
          <a:p>
            <a:r>
              <a:rPr lang="de-DE" dirty="0"/>
              <a:t>Die ausgewählte Region </a:t>
            </a:r>
            <a:r>
              <a:rPr lang="de-DE" dirty="0" err="1"/>
              <a:t>of</a:t>
            </a:r>
            <a:r>
              <a:rPr lang="de-DE" dirty="0"/>
              <a:t> Interest sollte periodische Brustbewegung enthalten, nicht nur hohe Reflexionsleistung</a:t>
            </a:r>
          </a:p>
          <a:p>
            <a:r>
              <a:rPr lang="de-DE" dirty="0"/>
              <a:t>Korrekte Personenerkennung beeinflusst die finale Genauigkeit stark</a:t>
            </a:r>
          </a:p>
        </p:txBody>
      </p:sp>
    </p:spTree>
    <p:extLst>
      <p:ext uri="{BB962C8B-B14F-4D97-AF65-F5344CB8AC3E}">
        <p14:creationId xmlns:p14="http://schemas.microsoft.com/office/powerpoint/2010/main" val="128820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A90F22-43AB-2D26-C2B2-CCA66C69496C}"/>
              </a:ext>
            </a:extLst>
          </p:cNvPr>
          <p:cNvSpPr>
            <a:spLocks noGrp="1"/>
          </p:cNvSpPr>
          <p:nvPr>
            <p:ph type="title"/>
          </p:nvPr>
        </p:nvSpPr>
        <p:spPr/>
        <p:txBody>
          <a:bodyPr/>
          <a:lstStyle/>
          <a:p>
            <a:r>
              <a:rPr lang="de-DE" dirty="0"/>
              <a:t>Die Reflexion mit Brustbewegung finden</a:t>
            </a:r>
          </a:p>
        </p:txBody>
      </p:sp>
      <p:graphicFrame>
        <p:nvGraphicFramePr>
          <p:cNvPr id="4" name="Inhaltsplatzhalter 3">
            <a:extLst>
              <a:ext uri="{FF2B5EF4-FFF2-40B4-BE49-F238E27FC236}">
                <a16:creationId xmlns:a16="http://schemas.microsoft.com/office/drawing/2014/main" id="{0F4DB154-E53B-0A5B-8E31-4E8A9AD325B6}"/>
              </a:ext>
            </a:extLst>
          </p:cNvPr>
          <p:cNvGraphicFramePr>
            <a:graphicFrameLocks noGrp="1"/>
          </p:cNvGraphicFramePr>
          <p:nvPr>
            <p:ph idx="1"/>
            <p:extLst>
              <p:ext uri="{D42A27DB-BD31-4B8C-83A1-F6EECF244321}">
                <p14:modId xmlns:p14="http://schemas.microsoft.com/office/powerpoint/2010/main" val="1590734904"/>
              </p:ext>
            </p:extLst>
          </p:nvPr>
        </p:nvGraphicFramePr>
        <p:xfrm>
          <a:off x="838200" y="1825625"/>
          <a:ext cx="10515600" cy="44856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561585556"/>
                    </a:ext>
                  </a:extLst>
                </a:gridCol>
                <a:gridCol w="5257800">
                  <a:extLst>
                    <a:ext uri="{9D8B030D-6E8A-4147-A177-3AD203B41FA5}">
                      <a16:colId xmlns:a16="http://schemas.microsoft.com/office/drawing/2014/main" val="3501804738"/>
                    </a:ext>
                  </a:extLst>
                </a:gridCol>
              </a:tblGrid>
              <a:tr h="370840">
                <a:tc>
                  <a:txBody>
                    <a:bodyPr/>
                    <a:lstStyle/>
                    <a:p>
                      <a:pPr>
                        <a:buNone/>
                      </a:pPr>
                      <a:r>
                        <a:rPr lang="de-DE" dirty="0"/>
                        <a:t>Kriterium</a:t>
                      </a:r>
                    </a:p>
                  </a:txBody>
                  <a:tcPr anchor="ctr"/>
                </a:tc>
                <a:tc>
                  <a:txBody>
                    <a:bodyPr/>
                    <a:lstStyle/>
                    <a:p>
                      <a:pPr>
                        <a:buNone/>
                      </a:pPr>
                      <a:r>
                        <a:rPr lang="de-DE"/>
                        <a:t>Warum es wichtig ist</a:t>
                      </a:r>
                    </a:p>
                  </a:txBody>
                  <a:tcPr anchor="ctr"/>
                </a:tc>
                <a:extLst>
                  <a:ext uri="{0D108BD9-81ED-4DB2-BD59-A6C34878D82A}">
                    <a16:rowId xmlns:a16="http://schemas.microsoft.com/office/drawing/2014/main" val="4121880391"/>
                  </a:ext>
                </a:extLst>
              </a:tr>
              <a:tr h="370840">
                <a:tc>
                  <a:txBody>
                    <a:bodyPr/>
                    <a:lstStyle/>
                    <a:p>
                      <a:pPr>
                        <a:buNone/>
                      </a:pPr>
                      <a:r>
                        <a:rPr lang="de-DE" b="1"/>
                        <a:t>Reflexionsstärke</a:t>
                      </a:r>
                      <a:endParaRPr lang="de-DE"/>
                    </a:p>
                  </a:txBody>
                  <a:tcPr anchor="ctr"/>
                </a:tc>
                <a:tc>
                  <a:txBody>
                    <a:bodyPr/>
                    <a:lstStyle/>
                    <a:p>
                      <a:pPr>
                        <a:buNone/>
                      </a:pPr>
                      <a:r>
                        <a:rPr lang="de-DE"/>
                        <a:t>Das Signal muss stark genug für eine zuverlässige Phasenverfolgung sein</a:t>
                      </a:r>
                    </a:p>
                  </a:txBody>
                  <a:tcPr anchor="ctr"/>
                </a:tc>
                <a:extLst>
                  <a:ext uri="{0D108BD9-81ED-4DB2-BD59-A6C34878D82A}">
                    <a16:rowId xmlns:a16="http://schemas.microsoft.com/office/drawing/2014/main" val="2374510514"/>
                  </a:ext>
                </a:extLst>
              </a:tr>
              <a:tr h="370840">
                <a:tc>
                  <a:txBody>
                    <a:bodyPr/>
                    <a:lstStyle/>
                    <a:p>
                      <a:pPr>
                        <a:buNone/>
                      </a:pPr>
                      <a:r>
                        <a:rPr lang="de-DE" b="1"/>
                        <a:t>Plausible Entfernung</a:t>
                      </a:r>
                      <a:endParaRPr lang="de-DE"/>
                    </a:p>
                  </a:txBody>
                  <a:tcPr anchor="ctr"/>
                </a:tc>
                <a:tc>
                  <a:txBody>
                    <a:bodyPr/>
                    <a:lstStyle/>
                    <a:p>
                      <a:pPr>
                        <a:buNone/>
                      </a:pPr>
                      <a:r>
                        <a:rPr lang="de-DE"/>
                        <a:t>Das Ziel sollte innerhalb der erwarteten Messdistanz liegen</a:t>
                      </a:r>
                    </a:p>
                  </a:txBody>
                  <a:tcPr anchor="ctr"/>
                </a:tc>
                <a:extLst>
                  <a:ext uri="{0D108BD9-81ED-4DB2-BD59-A6C34878D82A}">
                    <a16:rowId xmlns:a16="http://schemas.microsoft.com/office/drawing/2014/main" val="173999801"/>
                  </a:ext>
                </a:extLst>
              </a:tr>
              <a:tr h="370840">
                <a:tc>
                  <a:txBody>
                    <a:bodyPr/>
                    <a:lstStyle/>
                    <a:p>
                      <a:pPr>
                        <a:buNone/>
                      </a:pPr>
                      <a:r>
                        <a:rPr lang="de-DE" b="1"/>
                        <a:t>Zeitliche Stabilität</a:t>
                      </a:r>
                      <a:endParaRPr lang="de-DE"/>
                    </a:p>
                  </a:txBody>
                  <a:tcPr anchor="ctr"/>
                </a:tc>
                <a:tc>
                  <a:txBody>
                    <a:bodyPr/>
                    <a:lstStyle/>
                    <a:p>
                      <a:pPr>
                        <a:buNone/>
                      </a:pPr>
                      <a:r>
                        <a:rPr lang="de-DE"/>
                        <a:t>Die Reflexion sollte über die Messdauer stabil bleiben</a:t>
                      </a:r>
                    </a:p>
                  </a:txBody>
                  <a:tcPr anchor="ctr"/>
                </a:tc>
                <a:extLst>
                  <a:ext uri="{0D108BD9-81ED-4DB2-BD59-A6C34878D82A}">
                    <a16:rowId xmlns:a16="http://schemas.microsoft.com/office/drawing/2014/main" val="3093774893"/>
                  </a:ext>
                </a:extLst>
              </a:tr>
              <a:tr h="370840">
                <a:tc>
                  <a:txBody>
                    <a:bodyPr/>
                    <a:lstStyle/>
                    <a:p>
                      <a:pPr>
                        <a:buNone/>
                      </a:pPr>
                      <a:r>
                        <a:rPr lang="de-DE" b="1"/>
                        <a:t>Phasenqualität</a:t>
                      </a:r>
                      <a:endParaRPr lang="de-DE"/>
                    </a:p>
                  </a:txBody>
                  <a:tcPr anchor="ctr"/>
                </a:tc>
                <a:tc>
                  <a:txBody>
                    <a:bodyPr/>
                    <a:lstStyle/>
                    <a:p>
                      <a:pPr>
                        <a:buNone/>
                      </a:pPr>
                      <a:r>
                        <a:rPr lang="de-DE"/>
                        <a:t>Die Phase sollte kontinuierlich genug sein, um Bewegung zu extrahieren</a:t>
                      </a:r>
                    </a:p>
                  </a:txBody>
                  <a:tcPr anchor="ctr"/>
                </a:tc>
                <a:extLst>
                  <a:ext uri="{0D108BD9-81ED-4DB2-BD59-A6C34878D82A}">
                    <a16:rowId xmlns:a16="http://schemas.microsoft.com/office/drawing/2014/main" val="619035346"/>
                  </a:ext>
                </a:extLst>
              </a:tr>
              <a:tr h="370840">
                <a:tc>
                  <a:txBody>
                    <a:bodyPr/>
                    <a:lstStyle/>
                    <a:p>
                      <a:pPr>
                        <a:buNone/>
                      </a:pPr>
                      <a:r>
                        <a:rPr lang="de-DE" b="1"/>
                        <a:t>Physiologischer Bewegungsanteil</a:t>
                      </a:r>
                      <a:endParaRPr lang="de-DE"/>
                    </a:p>
                  </a:txBody>
                  <a:tcPr anchor="ctr"/>
                </a:tc>
                <a:tc>
                  <a:txBody>
                    <a:bodyPr/>
                    <a:lstStyle/>
                    <a:p>
                      <a:pPr>
                        <a:buNone/>
                      </a:pPr>
                      <a:r>
                        <a:rPr lang="de-DE"/>
                        <a:t>Das Signal sollte periodische Komponenten im Atem- und Herzfrequenzbereich enthalten</a:t>
                      </a:r>
                    </a:p>
                  </a:txBody>
                  <a:tcPr anchor="ctr"/>
                </a:tc>
                <a:extLst>
                  <a:ext uri="{0D108BD9-81ED-4DB2-BD59-A6C34878D82A}">
                    <a16:rowId xmlns:a16="http://schemas.microsoft.com/office/drawing/2014/main" val="1389677845"/>
                  </a:ext>
                </a:extLst>
              </a:tr>
              <a:tr h="370840">
                <a:tc>
                  <a:txBody>
                    <a:bodyPr/>
                    <a:lstStyle/>
                    <a:p>
                      <a:pPr>
                        <a:buNone/>
                      </a:pPr>
                      <a:r>
                        <a:rPr lang="de-DE" b="1"/>
                        <a:t>Artefaktunterdrückung</a:t>
                      </a:r>
                      <a:endParaRPr lang="de-DE"/>
                    </a:p>
                  </a:txBody>
                  <a:tcPr anchor="ctr"/>
                </a:tc>
                <a:tc>
                  <a:txBody>
                    <a:bodyPr/>
                    <a:lstStyle/>
                    <a:p>
                      <a:pPr>
                        <a:buNone/>
                      </a:pPr>
                      <a:r>
                        <a:rPr lang="de-DE" dirty="0"/>
                        <a:t>Plötzliche große Bewegungen oder instabile Reflexionen sind weniger zuverlässig für die Vitalzeichenextraktion</a:t>
                      </a:r>
                    </a:p>
                  </a:txBody>
                  <a:tcPr anchor="ctr"/>
                </a:tc>
                <a:extLst>
                  <a:ext uri="{0D108BD9-81ED-4DB2-BD59-A6C34878D82A}">
                    <a16:rowId xmlns:a16="http://schemas.microsoft.com/office/drawing/2014/main" val="3924621082"/>
                  </a:ext>
                </a:extLst>
              </a:tr>
            </a:tbl>
          </a:graphicData>
        </a:graphic>
      </p:graphicFrame>
    </p:spTree>
    <p:extLst>
      <p:ext uri="{BB962C8B-B14F-4D97-AF65-F5344CB8AC3E}">
        <p14:creationId xmlns:p14="http://schemas.microsoft.com/office/powerpoint/2010/main" val="3342470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87CE0E-0C28-4443-1BCD-5681F2F7E6A7}"/>
              </a:ext>
            </a:extLst>
          </p:cNvPr>
          <p:cNvSpPr>
            <a:spLocks noGrp="1"/>
          </p:cNvSpPr>
          <p:nvPr>
            <p:ph type="title"/>
          </p:nvPr>
        </p:nvSpPr>
        <p:spPr/>
        <p:txBody>
          <a:bodyPr/>
          <a:lstStyle/>
          <a:p>
            <a:r>
              <a:rPr lang="de-DE" dirty="0"/>
              <a:t>Radarphase in ein Bewegungssignal umwandeln</a:t>
            </a:r>
          </a:p>
        </p:txBody>
      </p:sp>
      <p:sp>
        <p:nvSpPr>
          <p:cNvPr id="3" name="Inhaltsplatzhalter 2">
            <a:extLst>
              <a:ext uri="{FF2B5EF4-FFF2-40B4-BE49-F238E27FC236}">
                <a16:creationId xmlns:a16="http://schemas.microsoft.com/office/drawing/2014/main" id="{51C027ED-9F41-17D9-72A7-5F6C3EB4EBC5}"/>
              </a:ext>
            </a:extLst>
          </p:cNvPr>
          <p:cNvSpPr>
            <a:spLocks noGrp="1"/>
          </p:cNvSpPr>
          <p:nvPr>
            <p:ph idx="1"/>
          </p:nvPr>
        </p:nvSpPr>
        <p:spPr/>
        <p:txBody>
          <a:bodyPr>
            <a:normAutofit fontScale="92500" lnSpcReduction="20000"/>
          </a:bodyPr>
          <a:lstStyle/>
          <a:p>
            <a:r>
              <a:rPr lang="de-DE" dirty="0"/>
              <a:t>Die ausgewählte Radarreflexion wird über die Zeit verfolgt</a:t>
            </a:r>
          </a:p>
          <a:p>
            <a:r>
              <a:rPr lang="de-DE" dirty="0"/>
              <a:t>Brustbewegung erscheint als Phasenänderung im Radarsignal</a:t>
            </a:r>
          </a:p>
          <a:p>
            <a:r>
              <a:rPr lang="de-DE" dirty="0"/>
              <a:t>Die gemessene Phase kann man sich als Bewegung auf einem Einheitskreis vorstellen</a:t>
            </a:r>
          </a:p>
          <a:p>
            <a:r>
              <a:rPr lang="de-DE" dirty="0"/>
              <a:t>Wird diese kreisförmige Phase über die Zeit dargestellt, entsteht ein wellförmiges Bewegungssignal</a:t>
            </a:r>
          </a:p>
          <a:p>
            <a:r>
              <a:rPr lang="de-DE" dirty="0"/>
              <a:t>Phasen-</a:t>
            </a:r>
            <a:r>
              <a:rPr lang="de-DE" dirty="0" err="1"/>
              <a:t>Wrapping</a:t>
            </a:r>
            <a:r>
              <a:rPr lang="de-DE" dirty="0"/>
              <a:t> entsteht, wenn die Phase die Kreisgrenze überschreitet und von +</a:t>
            </a:r>
            <a:r>
              <a:rPr lang="de-DE" dirty="0" err="1"/>
              <a:t>pi</a:t>
            </a:r>
            <a:r>
              <a:rPr lang="de-DE" dirty="0"/>
              <a:t> auf –</a:t>
            </a:r>
            <a:r>
              <a:rPr lang="de-DE" dirty="0" err="1"/>
              <a:t>pi</a:t>
            </a:r>
            <a:r>
              <a:rPr lang="de-DE" dirty="0"/>
              <a:t> springt, oder umgekehrt</a:t>
            </a:r>
          </a:p>
          <a:p>
            <a:r>
              <a:rPr lang="de-DE" dirty="0"/>
              <a:t>Phasen-</a:t>
            </a:r>
            <a:r>
              <a:rPr lang="de-DE" dirty="0" err="1"/>
              <a:t>Umwrapping</a:t>
            </a:r>
            <a:r>
              <a:rPr lang="de-DE" dirty="0"/>
              <a:t> entfernt diese künstlichen Sprünge</a:t>
            </a:r>
          </a:p>
          <a:p>
            <a:r>
              <a:rPr lang="de-DE" dirty="0"/>
              <a:t>Das Ergebnis ist ein kontinuierliches, verschiebungsähnliches Bewegungssignal über die Messdauer</a:t>
            </a:r>
          </a:p>
        </p:txBody>
      </p:sp>
    </p:spTree>
    <p:extLst>
      <p:ext uri="{BB962C8B-B14F-4D97-AF65-F5344CB8AC3E}">
        <p14:creationId xmlns:p14="http://schemas.microsoft.com/office/powerpoint/2010/main" val="1917119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5F6E42-73A8-27C9-2F7A-90ED22964B2C}"/>
              </a:ext>
            </a:extLst>
          </p:cNvPr>
          <p:cNvSpPr>
            <a:spLocks noGrp="1"/>
          </p:cNvSpPr>
          <p:nvPr>
            <p:ph type="title"/>
          </p:nvPr>
        </p:nvSpPr>
        <p:spPr/>
        <p:txBody>
          <a:bodyPr/>
          <a:lstStyle/>
          <a:p>
            <a:r>
              <a:rPr lang="de-DE" dirty="0"/>
              <a:t>Atmung, Herzschlag und Rauschen trennen</a:t>
            </a:r>
          </a:p>
        </p:txBody>
      </p:sp>
      <p:sp>
        <p:nvSpPr>
          <p:cNvPr id="3" name="Inhaltsplatzhalter 2">
            <a:extLst>
              <a:ext uri="{FF2B5EF4-FFF2-40B4-BE49-F238E27FC236}">
                <a16:creationId xmlns:a16="http://schemas.microsoft.com/office/drawing/2014/main" id="{10646A6E-26E7-3094-8671-44083843ECFC}"/>
              </a:ext>
            </a:extLst>
          </p:cNvPr>
          <p:cNvSpPr>
            <a:spLocks noGrp="1"/>
          </p:cNvSpPr>
          <p:nvPr>
            <p:ph sz="half" idx="1"/>
          </p:nvPr>
        </p:nvSpPr>
        <p:spPr/>
        <p:txBody>
          <a:bodyPr>
            <a:normAutofit fontScale="70000" lnSpcReduction="20000"/>
          </a:bodyPr>
          <a:lstStyle/>
          <a:p>
            <a:r>
              <a:rPr lang="de-DE" dirty="0"/>
              <a:t>Das extrahierte Bewegungssignal enthält weiterhin Drift, Rauschen, Artefakte, Atmung und Herzschlaganteile</a:t>
            </a:r>
          </a:p>
          <a:p>
            <a:r>
              <a:rPr lang="de-DE" dirty="0"/>
              <a:t>Langsame Basisliniendrift wird mit einem Moving-Average-</a:t>
            </a:r>
            <a:r>
              <a:rPr lang="de-DE" dirty="0" err="1"/>
              <a:t>Detrending</a:t>
            </a:r>
            <a:r>
              <a:rPr lang="de-DE" dirty="0"/>
              <a:t> reduziert</a:t>
            </a:r>
          </a:p>
          <a:p>
            <a:r>
              <a:rPr lang="de-DE" dirty="0"/>
              <a:t>Atem-Bandpassfilter: 0,10 – 0,60 Hz ≈ 48-120 Schläge/min</a:t>
            </a:r>
          </a:p>
          <a:p>
            <a:r>
              <a:rPr lang="de-DE" dirty="0"/>
              <a:t>Beide Signale werden mit einem Butterworth-Bandpassfilter 4. Ordnung mit Nullphasenfilterung </a:t>
            </a:r>
            <a:r>
              <a:rPr lang="de-DE" dirty="0" err="1"/>
              <a:t>isioliert</a:t>
            </a:r>
            <a:endParaRPr lang="de-DE" dirty="0"/>
          </a:p>
          <a:p>
            <a:r>
              <a:rPr lang="de-DE" dirty="0"/>
              <a:t>Nullphasenfilterung vermeidet eine zeitliche Verschiebung des Bewegungssignals</a:t>
            </a:r>
          </a:p>
          <a:p>
            <a:r>
              <a:rPr lang="de-DE" dirty="0"/>
              <a:t>Ergebnis dieses Schritts sind zwei bereinigte Signale: ein Atembandsignal und ein Herzbandsignal</a:t>
            </a:r>
          </a:p>
        </p:txBody>
      </p:sp>
      <p:pic>
        <p:nvPicPr>
          <p:cNvPr id="6" name="Inhaltsplatzhalter 5">
            <a:extLst>
              <a:ext uri="{FF2B5EF4-FFF2-40B4-BE49-F238E27FC236}">
                <a16:creationId xmlns:a16="http://schemas.microsoft.com/office/drawing/2014/main" id="{6D235098-4CCD-D7BA-9707-7EE9E6A905D8}"/>
              </a:ext>
            </a:extLst>
          </p:cNvPr>
          <p:cNvPicPr>
            <a:picLocks noGrp="1" noChangeAspect="1"/>
          </p:cNvPicPr>
          <p:nvPr>
            <p:ph sz="half" idx="2"/>
          </p:nvPr>
        </p:nvPicPr>
        <p:blipFill>
          <a:blip r:embed="rId2"/>
          <a:stretch>
            <a:fillRect/>
          </a:stretch>
        </p:blipFill>
        <p:spPr>
          <a:xfrm>
            <a:off x="6172200" y="2567296"/>
            <a:ext cx="5181600" cy="2867995"/>
          </a:xfrm>
          <a:prstGeom prst="rect">
            <a:avLst/>
          </a:prstGeom>
        </p:spPr>
      </p:pic>
    </p:spTree>
    <p:extLst>
      <p:ext uri="{BB962C8B-B14F-4D97-AF65-F5344CB8AC3E}">
        <p14:creationId xmlns:p14="http://schemas.microsoft.com/office/powerpoint/2010/main" val="4291940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CA45A9-5CD6-4F63-8791-75B8177CE2DD}"/>
              </a:ext>
            </a:extLst>
          </p:cNvPr>
          <p:cNvSpPr>
            <a:spLocks noGrp="1"/>
          </p:cNvSpPr>
          <p:nvPr>
            <p:ph type="title"/>
          </p:nvPr>
        </p:nvSpPr>
        <p:spPr/>
        <p:txBody>
          <a:bodyPr/>
          <a:lstStyle/>
          <a:p>
            <a:r>
              <a:rPr lang="de-DE" dirty="0"/>
              <a:t>Backup 2: Filterfrequenzbänder und Parameter</a:t>
            </a:r>
          </a:p>
        </p:txBody>
      </p:sp>
      <p:sp>
        <p:nvSpPr>
          <p:cNvPr id="3" name="Inhaltsplatzhalter 2">
            <a:extLst>
              <a:ext uri="{FF2B5EF4-FFF2-40B4-BE49-F238E27FC236}">
                <a16:creationId xmlns:a16="http://schemas.microsoft.com/office/drawing/2014/main" id="{2D29F9A5-621A-65C7-A563-7F5F421E9EFB}"/>
              </a:ext>
            </a:extLst>
          </p:cNvPr>
          <p:cNvSpPr>
            <a:spLocks noGrp="1"/>
          </p:cNvSpPr>
          <p:nvPr>
            <p:ph idx="1"/>
          </p:nvPr>
        </p:nvSpPr>
        <p:spPr/>
        <p:txBody>
          <a:bodyPr/>
          <a:lstStyle/>
          <a:p>
            <a:pPr marL="0" indent="0">
              <a:buNone/>
            </a:pPr>
            <a:r>
              <a:rPr lang="de-DE" dirty="0"/>
              <a:t>Warum diese Signalbereiche gewählt wurden</a:t>
            </a:r>
          </a:p>
          <a:p>
            <a:r>
              <a:rPr lang="de-DE" dirty="0"/>
              <a:t>Atmung erscheint in einem niedrigeren Bewegungsfrequenzband</a:t>
            </a:r>
          </a:p>
          <a:p>
            <a:r>
              <a:rPr lang="de-DE" dirty="0"/>
              <a:t>Herzschlag erscheint in einem höheren Bewegungsfrequenzband</a:t>
            </a:r>
          </a:p>
          <a:p>
            <a:r>
              <a:rPr lang="de-DE" dirty="0"/>
              <a:t>Bandpassfilter unterdrücken Drift, Rauschen und irrelevante Bewegungen</a:t>
            </a:r>
          </a:p>
          <a:p>
            <a:r>
              <a:rPr lang="de-DE" dirty="0"/>
              <a:t>Filterbereiche werden anhand plausibler physiologischer Frequenzen ausgewählt</a:t>
            </a:r>
          </a:p>
          <a:p>
            <a:r>
              <a:rPr lang="de-DE" dirty="0"/>
              <a:t>Parameterwahl beeinflusst Empfindlichkeit und Fehlerrate</a:t>
            </a:r>
          </a:p>
        </p:txBody>
      </p:sp>
    </p:spTree>
    <p:extLst>
      <p:ext uri="{BB962C8B-B14F-4D97-AF65-F5344CB8AC3E}">
        <p14:creationId xmlns:p14="http://schemas.microsoft.com/office/powerpoint/2010/main" val="1910507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75242D-7BE8-484B-B336-176CA187F505}"/>
              </a:ext>
            </a:extLst>
          </p:cNvPr>
          <p:cNvSpPr>
            <a:spLocks noGrp="1"/>
          </p:cNvSpPr>
          <p:nvPr>
            <p:ph type="title"/>
          </p:nvPr>
        </p:nvSpPr>
        <p:spPr/>
        <p:txBody>
          <a:bodyPr/>
          <a:lstStyle/>
          <a:p>
            <a:r>
              <a:rPr lang="de-DE" dirty="0"/>
              <a:t>Gefilterte Signale in Vitalzeichen umwandeln</a:t>
            </a:r>
          </a:p>
        </p:txBody>
      </p:sp>
      <p:sp>
        <p:nvSpPr>
          <p:cNvPr id="3" name="Inhaltsplatzhalter 2">
            <a:extLst>
              <a:ext uri="{FF2B5EF4-FFF2-40B4-BE49-F238E27FC236}">
                <a16:creationId xmlns:a16="http://schemas.microsoft.com/office/drawing/2014/main" id="{087952A9-AE87-310F-D226-422AE1531616}"/>
              </a:ext>
            </a:extLst>
          </p:cNvPr>
          <p:cNvSpPr>
            <a:spLocks noGrp="1"/>
          </p:cNvSpPr>
          <p:nvPr>
            <p:ph idx="1"/>
          </p:nvPr>
        </p:nvSpPr>
        <p:spPr/>
        <p:txBody>
          <a:bodyPr>
            <a:normAutofit fontScale="70000" lnSpcReduction="20000"/>
          </a:bodyPr>
          <a:lstStyle/>
          <a:p>
            <a:pPr marL="0" indent="0">
              <a:buNone/>
            </a:pPr>
            <a:r>
              <a:rPr lang="de-DE" dirty="0"/>
              <a:t>Signalanalyse und Frequenzschätzung</a:t>
            </a:r>
          </a:p>
          <a:p>
            <a:r>
              <a:rPr lang="de-DE" dirty="0"/>
              <a:t>Die gefilterten Atem- und Herzbandsignale werden im Frequenzbereich analysiert</a:t>
            </a:r>
          </a:p>
          <a:p>
            <a:r>
              <a:rPr lang="de-DE" dirty="0"/>
              <a:t>Die FFT identifiziert dominante periodische Bewegungsanteile über die Messdauer</a:t>
            </a:r>
          </a:p>
          <a:p>
            <a:r>
              <a:rPr lang="de-DE" dirty="0"/>
              <a:t>Die Atemfrequenz wird aus dem stärksten plausiblen Peak im </a:t>
            </a:r>
            <a:r>
              <a:rPr lang="de-DE" dirty="0" err="1"/>
              <a:t>Atemband</a:t>
            </a:r>
            <a:r>
              <a:rPr lang="de-DE" dirty="0"/>
              <a:t> ausgewählt</a:t>
            </a:r>
          </a:p>
          <a:p>
            <a:r>
              <a:rPr lang="de-DE" dirty="0"/>
              <a:t>Die Herzfrequenzschätzung bewertet mehrere Kandidatenpeaks, nicht nur den größten Peak</a:t>
            </a:r>
          </a:p>
          <a:p>
            <a:r>
              <a:rPr lang="de-DE" dirty="0"/>
              <a:t>Peaks nahe an Atemharmonischen werden bestraft, besonders </a:t>
            </a:r>
            <a:r>
              <a:rPr lang="de-DE" dirty="0" err="1"/>
              <a:t>naha</a:t>
            </a:r>
            <a:r>
              <a:rPr lang="de-DE" dirty="0"/>
              <a:t> der 2. und 3. Harmonischen</a:t>
            </a:r>
          </a:p>
          <a:p>
            <a:r>
              <a:rPr lang="de-DE" dirty="0"/>
              <a:t>Kandidatenpeaks werden anhand von Signalstärke, physiologischer Plausibilität und Abstand zu Harmonischen bewertet.</a:t>
            </a:r>
          </a:p>
          <a:p>
            <a:r>
              <a:rPr lang="de-DE" dirty="0"/>
              <a:t>Die ausgewählten Frequenzen werden in Atemzüge/min und Schläge/min umgerechnet</a:t>
            </a:r>
          </a:p>
          <a:p>
            <a:r>
              <a:rPr lang="de-DE" dirty="0"/>
              <a:t>Angezeigte Verläufe werden mit Medianfilterung, Sprungbegrenzung und exponentieller Glättung stabilisiert</a:t>
            </a:r>
          </a:p>
        </p:txBody>
      </p:sp>
    </p:spTree>
    <p:extLst>
      <p:ext uri="{BB962C8B-B14F-4D97-AF65-F5344CB8AC3E}">
        <p14:creationId xmlns:p14="http://schemas.microsoft.com/office/powerpoint/2010/main" val="3517491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09CF5B-787B-0ECB-191C-0BEB1C49D675}"/>
              </a:ext>
            </a:extLst>
          </p:cNvPr>
          <p:cNvSpPr>
            <a:spLocks noGrp="1"/>
          </p:cNvSpPr>
          <p:nvPr>
            <p:ph type="title"/>
          </p:nvPr>
        </p:nvSpPr>
        <p:spPr/>
        <p:txBody>
          <a:bodyPr/>
          <a:lstStyle/>
          <a:p>
            <a:r>
              <a:rPr lang="de-DE" dirty="0"/>
              <a:t>Validierung und Genauigkeitsergebnisse</a:t>
            </a:r>
          </a:p>
        </p:txBody>
      </p:sp>
      <p:sp>
        <p:nvSpPr>
          <p:cNvPr id="3" name="Inhaltsplatzhalter 2">
            <a:extLst>
              <a:ext uri="{FF2B5EF4-FFF2-40B4-BE49-F238E27FC236}">
                <a16:creationId xmlns:a16="http://schemas.microsoft.com/office/drawing/2014/main" id="{79AC3C54-BE5F-80D2-232F-46931A7977A2}"/>
              </a:ext>
            </a:extLst>
          </p:cNvPr>
          <p:cNvSpPr>
            <a:spLocks noGrp="1"/>
          </p:cNvSpPr>
          <p:nvPr>
            <p:ph idx="1"/>
          </p:nvPr>
        </p:nvSpPr>
        <p:spPr/>
        <p:txBody>
          <a:bodyPr>
            <a:normAutofit lnSpcReduction="10000"/>
          </a:bodyPr>
          <a:lstStyle/>
          <a:p>
            <a:pPr marL="0" indent="0">
              <a:buNone/>
            </a:pPr>
            <a:r>
              <a:rPr lang="de-DE" dirty="0"/>
              <a:t>Überprüfung der Pipeline-Genauigkeit</a:t>
            </a:r>
          </a:p>
          <a:p>
            <a:r>
              <a:rPr lang="de-DE" dirty="0"/>
              <a:t>Aufgezeichnete Radarmessungen wurden mit der finalen Python-Pipeline verarbeitet</a:t>
            </a:r>
          </a:p>
          <a:p>
            <a:r>
              <a:rPr lang="de-DE" dirty="0"/>
              <a:t>Geschätzte Atem- und Herzfrequenzen wurden mit unabhängigen Referenzmessungen verglichen</a:t>
            </a:r>
          </a:p>
          <a:p>
            <a:r>
              <a:rPr lang="de-DE" dirty="0"/>
              <a:t>Die Genauigkeit wurde über die vollständige Messdauer bewertet</a:t>
            </a:r>
          </a:p>
          <a:p>
            <a:r>
              <a:rPr lang="de-DE" dirty="0"/>
              <a:t>Die Atemfrequenzschätzung zeigte eine höhere Stabilität als die Herzfrequenzschätzung</a:t>
            </a:r>
          </a:p>
          <a:p>
            <a:r>
              <a:rPr lang="de-DE" dirty="0"/>
              <a:t>Die Herzfrequenzgenauigkeit wurde stärker durch Bewegungsartefakte und schwache Signalamplitude beeinflusst</a:t>
            </a:r>
          </a:p>
        </p:txBody>
      </p:sp>
    </p:spTree>
    <p:extLst>
      <p:ext uri="{BB962C8B-B14F-4D97-AF65-F5344CB8AC3E}">
        <p14:creationId xmlns:p14="http://schemas.microsoft.com/office/powerpoint/2010/main" val="1643302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3B88FB-78CD-6161-0CD9-C804F2076FED}"/>
              </a:ext>
            </a:extLst>
          </p:cNvPr>
          <p:cNvSpPr>
            <a:spLocks noGrp="1"/>
          </p:cNvSpPr>
          <p:nvPr>
            <p:ph type="title"/>
          </p:nvPr>
        </p:nvSpPr>
        <p:spPr/>
        <p:txBody>
          <a:bodyPr/>
          <a:lstStyle/>
          <a:p>
            <a:r>
              <a:rPr lang="de-DE" dirty="0"/>
              <a:t>Backup 3: Validierungsmethode – was genau wurde verwendet??</a:t>
            </a:r>
          </a:p>
        </p:txBody>
      </p:sp>
      <p:sp>
        <p:nvSpPr>
          <p:cNvPr id="3" name="Inhaltsplatzhalter 2">
            <a:extLst>
              <a:ext uri="{FF2B5EF4-FFF2-40B4-BE49-F238E27FC236}">
                <a16:creationId xmlns:a16="http://schemas.microsoft.com/office/drawing/2014/main" id="{6018EAFF-B719-F6EC-615B-A0168144B277}"/>
              </a:ext>
            </a:extLst>
          </p:cNvPr>
          <p:cNvSpPr>
            <a:spLocks noGrp="1"/>
          </p:cNvSpPr>
          <p:nvPr>
            <p:ph idx="1"/>
          </p:nvPr>
        </p:nvSpPr>
        <p:spPr/>
        <p:txBody>
          <a:bodyPr>
            <a:normAutofit lnSpcReduction="10000"/>
          </a:bodyPr>
          <a:lstStyle/>
          <a:p>
            <a:pPr marL="0" indent="0">
              <a:buNone/>
            </a:pPr>
            <a:r>
              <a:rPr lang="de-DE" dirty="0"/>
              <a:t>Wie die Genauigkeit bewertet wurde?</a:t>
            </a:r>
          </a:p>
          <a:p>
            <a:r>
              <a:rPr lang="de-DE" dirty="0"/>
              <a:t>Radarschätzungen wurden mit unabhängigen Referenzwerten verglichen</a:t>
            </a:r>
          </a:p>
          <a:p>
            <a:r>
              <a:rPr lang="de-DE" dirty="0"/>
              <a:t>Atmung und Herzfrequenz wurden getrennt bewertet</a:t>
            </a:r>
          </a:p>
          <a:p>
            <a:r>
              <a:rPr lang="de-DE" dirty="0"/>
              <a:t>Der absolute Fehler wurde als intuitive Genauigkeitsmetrik verwendet</a:t>
            </a:r>
          </a:p>
          <a:p>
            <a:r>
              <a:rPr lang="de-DE" dirty="0"/>
              <a:t>Atmung ist voraussichtlich zuverlässiger als Herzfrequenzschätzung</a:t>
            </a:r>
          </a:p>
          <a:p>
            <a:r>
              <a:rPr lang="de-DE" dirty="0"/>
              <a:t>Mehr Validierungsaufnahmen würden die statistische Aussagekraft verbessern</a:t>
            </a:r>
          </a:p>
        </p:txBody>
      </p:sp>
    </p:spTree>
    <p:extLst>
      <p:ext uri="{BB962C8B-B14F-4D97-AF65-F5344CB8AC3E}">
        <p14:creationId xmlns:p14="http://schemas.microsoft.com/office/powerpoint/2010/main" val="2783872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D70738-7535-A317-928C-565256BFD4C4}"/>
              </a:ext>
            </a:extLst>
          </p:cNvPr>
          <p:cNvSpPr>
            <a:spLocks noGrp="1"/>
          </p:cNvSpPr>
          <p:nvPr>
            <p:ph type="title"/>
          </p:nvPr>
        </p:nvSpPr>
        <p:spPr/>
        <p:txBody>
          <a:bodyPr/>
          <a:lstStyle/>
          <a:p>
            <a:r>
              <a:rPr lang="de-DE" dirty="0"/>
              <a:t>Validierung und Genauigkeitsergebnisse</a:t>
            </a:r>
          </a:p>
        </p:txBody>
      </p:sp>
      <p:graphicFrame>
        <p:nvGraphicFramePr>
          <p:cNvPr id="4" name="Inhaltsplatzhalter 3">
            <a:extLst>
              <a:ext uri="{FF2B5EF4-FFF2-40B4-BE49-F238E27FC236}">
                <a16:creationId xmlns:a16="http://schemas.microsoft.com/office/drawing/2014/main" id="{BB12A210-EAD2-46C8-976E-0279CD37FE4A}"/>
              </a:ext>
            </a:extLst>
          </p:cNvPr>
          <p:cNvGraphicFramePr>
            <a:graphicFrameLocks noGrp="1"/>
          </p:cNvGraphicFramePr>
          <p:nvPr>
            <p:ph idx="1"/>
            <p:extLst>
              <p:ext uri="{D42A27DB-BD31-4B8C-83A1-F6EECF244321}">
                <p14:modId xmlns:p14="http://schemas.microsoft.com/office/powerpoint/2010/main" val="812708593"/>
              </p:ext>
            </p:extLst>
          </p:nvPr>
        </p:nvGraphicFramePr>
        <p:xfrm>
          <a:off x="838200" y="1825625"/>
          <a:ext cx="10515600" cy="36068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194801406"/>
                    </a:ext>
                  </a:extLst>
                </a:gridCol>
                <a:gridCol w="2103120">
                  <a:extLst>
                    <a:ext uri="{9D8B030D-6E8A-4147-A177-3AD203B41FA5}">
                      <a16:colId xmlns:a16="http://schemas.microsoft.com/office/drawing/2014/main" val="1809379002"/>
                    </a:ext>
                  </a:extLst>
                </a:gridCol>
                <a:gridCol w="2103120">
                  <a:extLst>
                    <a:ext uri="{9D8B030D-6E8A-4147-A177-3AD203B41FA5}">
                      <a16:colId xmlns:a16="http://schemas.microsoft.com/office/drawing/2014/main" val="1354641942"/>
                    </a:ext>
                  </a:extLst>
                </a:gridCol>
                <a:gridCol w="2103120">
                  <a:extLst>
                    <a:ext uri="{9D8B030D-6E8A-4147-A177-3AD203B41FA5}">
                      <a16:colId xmlns:a16="http://schemas.microsoft.com/office/drawing/2014/main" val="3203503527"/>
                    </a:ext>
                  </a:extLst>
                </a:gridCol>
                <a:gridCol w="2103120">
                  <a:extLst>
                    <a:ext uri="{9D8B030D-6E8A-4147-A177-3AD203B41FA5}">
                      <a16:colId xmlns:a16="http://schemas.microsoft.com/office/drawing/2014/main" val="753343319"/>
                    </a:ext>
                  </a:extLst>
                </a:gridCol>
              </a:tblGrid>
              <a:tr h="370840">
                <a:tc>
                  <a:txBody>
                    <a:bodyPr/>
                    <a:lstStyle/>
                    <a:p>
                      <a:pPr algn="r">
                        <a:buNone/>
                      </a:pPr>
                      <a:r>
                        <a:rPr lang="de-DE" dirty="0"/>
                        <a:t>Test</a:t>
                      </a:r>
                    </a:p>
                  </a:txBody>
                  <a:tcPr anchor="ctr"/>
                </a:tc>
                <a:tc>
                  <a:txBody>
                    <a:bodyPr/>
                    <a:lstStyle/>
                    <a:p>
                      <a:pPr algn="r">
                        <a:buNone/>
                      </a:pPr>
                      <a:r>
                        <a:rPr lang="de-DE"/>
                        <a:t>Anzahl erkannter Subjekte</a:t>
                      </a:r>
                    </a:p>
                  </a:txBody>
                  <a:tcPr anchor="ctr"/>
                </a:tc>
                <a:tc>
                  <a:txBody>
                    <a:bodyPr/>
                    <a:lstStyle/>
                    <a:p>
                      <a:pPr algn="r">
                        <a:buNone/>
                      </a:pPr>
                      <a:r>
                        <a:rPr lang="de-DE"/>
                        <a:t>Validierungs-Herzfrequenz</a:t>
                      </a:r>
                    </a:p>
                  </a:txBody>
                  <a:tcPr anchor="ctr"/>
                </a:tc>
                <a:tc>
                  <a:txBody>
                    <a:bodyPr/>
                    <a:lstStyle/>
                    <a:p>
                      <a:pPr algn="r">
                        <a:buNone/>
                      </a:pPr>
                      <a:r>
                        <a:rPr lang="de-DE"/>
                        <a:t>Berechnete Herzfrequenz</a:t>
                      </a:r>
                    </a:p>
                  </a:txBody>
                  <a:tcPr anchor="ctr"/>
                </a:tc>
                <a:tc>
                  <a:txBody>
                    <a:bodyPr/>
                    <a:lstStyle/>
                    <a:p>
                      <a:pPr algn="r">
                        <a:buNone/>
                      </a:pPr>
                      <a:r>
                        <a:rPr lang="de-DE"/>
                        <a:t>Berechnete Atemfrequenz</a:t>
                      </a:r>
                    </a:p>
                  </a:txBody>
                  <a:tcPr anchor="ctr"/>
                </a:tc>
                <a:extLst>
                  <a:ext uri="{0D108BD9-81ED-4DB2-BD59-A6C34878D82A}">
                    <a16:rowId xmlns:a16="http://schemas.microsoft.com/office/drawing/2014/main" val="2315726533"/>
                  </a:ext>
                </a:extLst>
              </a:tr>
              <a:tr h="370840">
                <a:tc>
                  <a:txBody>
                    <a:bodyPr/>
                    <a:lstStyle/>
                    <a:p>
                      <a:pPr algn="r">
                        <a:buNone/>
                      </a:pPr>
                      <a:r>
                        <a:rPr lang="de-DE"/>
                        <a:t>Test 2</a:t>
                      </a:r>
                    </a:p>
                  </a:txBody>
                  <a:tcPr anchor="ctr"/>
                </a:tc>
                <a:tc>
                  <a:txBody>
                    <a:bodyPr/>
                    <a:lstStyle/>
                    <a:p>
                      <a:pPr algn="r">
                        <a:buNone/>
                      </a:pPr>
                      <a:r>
                        <a:rPr lang="de-DE"/>
                        <a:t>1</a:t>
                      </a:r>
                    </a:p>
                  </a:txBody>
                  <a:tcPr anchor="ctr"/>
                </a:tc>
                <a:tc>
                  <a:txBody>
                    <a:bodyPr/>
                    <a:lstStyle/>
                    <a:p>
                      <a:pPr algn="r">
                        <a:buNone/>
                      </a:pPr>
                      <a:r>
                        <a:rPr lang="de-DE"/>
                        <a:t>64,72 bpm</a:t>
                      </a:r>
                    </a:p>
                  </a:txBody>
                  <a:tcPr anchor="ctr"/>
                </a:tc>
                <a:tc>
                  <a:txBody>
                    <a:bodyPr/>
                    <a:lstStyle/>
                    <a:p>
                      <a:pPr algn="r">
                        <a:buNone/>
                      </a:pPr>
                      <a:r>
                        <a:rPr lang="de-DE"/>
                        <a:t>60,2 bpm</a:t>
                      </a:r>
                    </a:p>
                  </a:txBody>
                  <a:tcPr anchor="ctr"/>
                </a:tc>
                <a:tc>
                  <a:txBody>
                    <a:bodyPr/>
                    <a:lstStyle/>
                    <a:p>
                      <a:pPr algn="r">
                        <a:buNone/>
                      </a:pPr>
                      <a:r>
                        <a:rPr lang="de-DE"/>
                        <a:t>23,9 /min</a:t>
                      </a:r>
                    </a:p>
                  </a:txBody>
                  <a:tcPr anchor="ctr"/>
                </a:tc>
                <a:extLst>
                  <a:ext uri="{0D108BD9-81ED-4DB2-BD59-A6C34878D82A}">
                    <a16:rowId xmlns:a16="http://schemas.microsoft.com/office/drawing/2014/main" val="123566536"/>
                  </a:ext>
                </a:extLst>
              </a:tr>
              <a:tr h="370840">
                <a:tc>
                  <a:txBody>
                    <a:bodyPr/>
                    <a:lstStyle/>
                    <a:p>
                      <a:pPr algn="r">
                        <a:buNone/>
                      </a:pPr>
                      <a:r>
                        <a:rPr lang="de-DE"/>
                        <a:t>Test 3</a:t>
                      </a:r>
                    </a:p>
                  </a:txBody>
                  <a:tcPr anchor="ctr"/>
                </a:tc>
                <a:tc>
                  <a:txBody>
                    <a:bodyPr/>
                    <a:lstStyle/>
                    <a:p>
                      <a:pPr algn="r">
                        <a:buNone/>
                      </a:pPr>
                      <a:r>
                        <a:rPr lang="de-DE"/>
                        <a:t>1</a:t>
                      </a:r>
                    </a:p>
                  </a:txBody>
                  <a:tcPr anchor="ctr"/>
                </a:tc>
                <a:tc>
                  <a:txBody>
                    <a:bodyPr/>
                    <a:lstStyle/>
                    <a:p>
                      <a:pPr algn="r">
                        <a:buNone/>
                      </a:pPr>
                      <a:r>
                        <a:rPr lang="de-DE"/>
                        <a:t>64,71 bpm</a:t>
                      </a:r>
                    </a:p>
                  </a:txBody>
                  <a:tcPr anchor="ctr"/>
                </a:tc>
                <a:tc>
                  <a:txBody>
                    <a:bodyPr/>
                    <a:lstStyle/>
                    <a:p>
                      <a:pPr algn="r">
                        <a:buNone/>
                      </a:pPr>
                      <a:r>
                        <a:rPr lang="de-DE"/>
                        <a:t>64,7 bpm</a:t>
                      </a:r>
                    </a:p>
                  </a:txBody>
                  <a:tcPr anchor="ctr"/>
                </a:tc>
                <a:tc>
                  <a:txBody>
                    <a:bodyPr/>
                    <a:lstStyle/>
                    <a:p>
                      <a:pPr algn="r">
                        <a:buNone/>
                      </a:pPr>
                      <a:r>
                        <a:rPr lang="de-DE"/>
                        <a:t>27,8 /min</a:t>
                      </a:r>
                    </a:p>
                  </a:txBody>
                  <a:tcPr anchor="ctr"/>
                </a:tc>
                <a:extLst>
                  <a:ext uri="{0D108BD9-81ED-4DB2-BD59-A6C34878D82A}">
                    <a16:rowId xmlns:a16="http://schemas.microsoft.com/office/drawing/2014/main" val="4198246591"/>
                  </a:ext>
                </a:extLst>
              </a:tr>
              <a:tr h="370840">
                <a:tc>
                  <a:txBody>
                    <a:bodyPr/>
                    <a:lstStyle/>
                    <a:p>
                      <a:pPr algn="r">
                        <a:buNone/>
                      </a:pPr>
                      <a:r>
                        <a:rPr lang="de-DE"/>
                        <a:t>Test 5</a:t>
                      </a:r>
                    </a:p>
                  </a:txBody>
                  <a:tcPr anchor="ctr"/>
                </a:tc>
                <a:tc>
                  <a:txBody>
                    <a:bodyPr/>
                    <a:lstStyle/>
                    <a:p>
                      <a:pPr algn="r">
                        <a:buNone/>
                      </a:pPr>
                      <a:r>
                        <a:rPr lang="de-DE"/>
                        <a:t>1</a:t>
                      </a:r>
                    </a:p>
                  </a:txBody>
                  <a:tcPr anchor="ctr"/>
                </a:tc>
                <a:tc>
                  <a:txBody>
                    <a:bodyPr/>
                    <a:lstStyle/>
                    <a:p>
                      <a:pPr algn="r">
                        <a:buNone/>
                      </a:pPr>
                      <a:r>
                        <a:rPr lang="de-DE"/>
                        <a:t>63,17 bpm</a:t>
                      </a:r>
                    </a:p>
                  </a:txBody>
                  <a:tcPr anchor="ctr"/>
                </a:tc>
                <a:tc>
                  <a:txBody>
                    <a:bodyPr/>
                    <a:lstStyle/>
                    <a:p>
                      <a:pPr algn="r">
                        <a:buNone/>
                      </a:pPr>
                      <a:r>
                        <a:rPr lang="de-DE"/>
                        <a:t>62,3 bpm</a:t>
                      </a:r>
                    </a:p>
                  </a:txBody>
                  <a:tcPr anchor="ctr"/>
                </a:tc>
                <a:tc>
                  <a:txBody>
                    <a:bodyPr/>
                    <a:lstStyle/>
                    <a:p>
                      <a:pPr algn="r">
                        <a:buNone/>
                      </a:pPr>
                      <a:r>
                        <a:rPr lang="de-DE"/>
                        <a:t>19,1 /min</a:t>
                      </a:r>
                    </a:p>
                  </a:txBody>
                  <a:tcPr anchor="ctr"/>
                </a:tc>
                <a:extLst>
                  <a:ext uri="{0D108BD9-81ED-4DB2-BD59-A6C34878D82A}">
                    <a16:rowId xmlns:a16="http://schemas.microsoft.com/office/drawing/2014/main" val="3022419894"/>
                  </a:ext>
                </a:extLst>
              </a:tr>
              <a:tr h="370840">
                <a:tc>
                  <a:txBody>
                    <a:bodyPr/>
                    <a:lstStyle/>
                    <a:p>
                      <a:pPr algn="r">
                        <a:buNone/>
                      </a:pPr>
                      <a:r>
                        <a:rPr lang="de-DE"/>
                        <a:t>Test 6</a:t>
                      </a:r>
                    </a:p>
                  </a:txBody>
                  <a:tcPr anchor="ctr"/>
                </a:tc>
                <a:tc>
                  <a:txBody>
                    <a:bodyPr/>
                    <a:lstStyle/>
                    <a:p>
                      <a:pPr algn="r">
                        <a:buNone/>
                      </a:pPr>
                      <a:r>
                        <a:rPr lang="de-DE"/>
                        <a:t>1</a:t>
                      </a:r>
                    </a:p>
                  </a:txBody>
                  <a:tcPr anchor="ctr"/>
                </a:tc>
                <a:tc>
                  <a:txBody>
                    <a:bodyPr/>
                    <a:lstStyle/>
                    <a:p>
                      <a:pPr algn="r">
                        <a:buNone/>
                      </a:pPr>
                      <a:r>
                        <a:rPr lang="de-DE"/>
                        <a:t>61,70 bpm</a:t>
                      </a:r>
                    </a:p>
                  </a:txBody>
                  <a:tcPr anchor="ctr"/>
                </a:tc>
                <a:tc>
                  <a:txBody>
                    <a:bodyPr/>
                    <a:lstStyle/>
                    <a:p>
                      <a:pPr algn="r">
                        <a:buNone/>
                      </a:pPr>
                      <a:r>
                        <a:rPr lang="de-DE"/>
                        <a:t>62,9 bpm</a:t>
                      </a:r>
                    </a:p>
                  </a:txBody>
                  <a:tcPr anchor="ctr"/>
                </a:tc>
                <a:tc>
                  <a:txBody>
                    <a:bodyPr/>
                    <a:lstStyle/>
                    <a:p>
                      <a:pPr algn="r">
                        <a:buNone/>
                      </a:pPr>
                      <a:r>
                        <a:rPr lang="de-DE"/>
                        <a:t>17,6 /min</a:t>
                      </a:r>
                    </a:p>
                  </a:txBody>
                  <a:tcPr anchor="ctr"/>
                </a:tc>
                <a:extLst>
                  <a:ext uri="{0D108BD9-81ED-4DB2-BD59-A6C34878D82A}">
                    <a16:rowId xmlns:a16="http://schemas.microsoft.com/office/drawing/2014/main" val="808807884"/>
                  </a:ext>
                </a:extLst>
              </a:tr>
              <a:tr h="370840">
                <a:tc>
                  <a:txBody>
                    <a:bodyPr/>
                    <a:lstStyle/>
                    <a:p>
                      <a:pPr algn="r">
                        <a:buNone/>
                      </a:pPr>
                      <a:r>
                        <a:rPr lang="de-DE"/>
                        <a:t>Test 8</a:t>
                      </a:r>
                    </a:p>
                  </a:txBody>
                  <a:tcPr anchor="ctr"/>
                </a:tc>
                <a:tc>
                  <a:txBody>
                    <a:bodyPr/>
                    <a:lstStyle/>
                    <a:p>
                      <a:pPr algn="r">
                        <a:buNone/>
                      </a:pPr>
                      <a:r>
                        <a:rPr lang="de-DE"/>
                        <a:t>2</a:t>
                      </a:r>
                    </a:p>
                  </a:txBody>
                  <a:tcPr anchor="ctr"/>
                </a:tc>
                <a:tc>
                  <a:txBody>
                    <a:bodyPr/>
                    <a:lstStyle/>
                    <a:p>
                      <a:pPr algn="r">
                        <a:buNone/>
                      </a:pPr>
                      <a:r>
                        <a:rPr lang="de-DE"/>
                        <a:t>80,60 bpm</a:t>
                      </a:r>
                    </a:p>
                  </a:txBody>
                  <a:tcPr anchor="ctr"/>
                </a:tc>
                <a:tc>
                  <a:txBody>
                    <a:bodyPr/>
                    <a:lstStyle/>
                    <a:p>
                      <a:pPr algn="r">
                        <a:buNone/>
                      </a:pPr>
                      <a:r>
                        <a:rPr lang="de-DE"/>
                        <a:t>80,8 bpm</a:t>
                      </a:r>
                    </a:p>
                  </a:txBody>
                  <a:tcPr anchor="ctr"/>
                </a:tc>
                <a:tc>
                  <a:txBody>
                    <a:bodyPr/>
                    <a:lstStyle/>
                    <a:p>
                      <a:pPr algn="r">
                        <a:buNone/>
                      </a:pPr>
                      <a:r>
                        <a:rPr lang="de-DE"/>
                        <a:t>18,2 /min</a:t>
                      </a:r>
                    </a:p>
                  </a:txBody>
                  <a:tcPr anchor="ctr"/>
                </a:tc>
                <a:extLst>
                  <a:ext uri="{0D108BD9-81ED-4DB2-BD59-A6C34878D82A}">
                    <a16:rowId xmlns:a16="http://schemas.microsoft.com/office/drawing/2014/main" val="4195569428"/>
                  </a:ext>
                </a:extLst>
              </a:tr>
              <a:tr h="370840">
                <a:tc>
                  <a:txBody>
                    <a:bodyPr/>
                    <a:lstStyle/>
                    <a:p>
                      <a:pPr algn="r">
                        <a:buNone/>
                      </a:pPr>
                      <a:r>
                        <a:rPr lang="de-DE"/>
                        <a:t>Test 9</a:t>
                      </a:r>
                    </a:p>
                  </a:txBody>
                  <a:tcPr anchor="ctr"/>
                </a:tc>
                <a:tc>
                  <a:txBody>
                    <a:bodyPr/>
                    <a:lstStyle/>
                    <a:p>
                      <a:pPr algn="r">
                        <a:buNone/>
                      </a:pPr>
                      <a:r>
                        <a:rPr lang="de-DE"/>
                        <a:t>2</a:t>
                      </a:r>
                    </a:p>
                  </a:txBody>
                  <a:tcPr anchor="ctr"/>
                </a:tc>
                <a:tc>
                  <a:txBody>
                    <a:bodyPr/>
                    <a:lstStyle/>
                    <a:p>
                      <a:pPr algn="r">
                        <a:buNone/>
                      </a:pPr>
                      <a:r>
                        <a:rPr lang="de-DE"/>
                        <a:t>83,27 bpm</a:t>
                      </a:r>
                    </a:p>
                  </a:txBody>
                  <a:tcPr anchor="ctr"/>
                </a:tc>
                <a:tc>
                  <a:txBody>
                    <a:bodyPr/>
                    <a:lstStyle/>
                    <a:p>
                      <a:pPr algn="r">
                        <a:buNone/>
                      </a:pPr>
                      <a:r>
                        <a:rPr lang="de-DE"/>
                        <a:t>82,6 bpm</a:t>
                      </a:r>
                    </a:p>
                  </a:txBody>
                  <a:tcPr anchor="ctr"/>
                </a:tc>
                <a:tc>
                  <a:txBody>
                    <a:bodyPr/>
                    <a:lstStyle/>
                    <a:p>
                      <a:pPr algn="r">
                        <a:buNone/>
                      </a:pPr>
                      <a:r>
                        <a:rPr lang="de-DE"/>
                        <a:t>20,6 /min</a:t>
                      </a:r>
                    </a:p>
                  </a:txBody>
                  <a:tcPr anchor="ctr"/>
                </a:tc>
                <a:extLst>
                  <a:ext uri="{0D108BD9-81ED-4DB2-BD59-A6C34878D82A}">
                    <a16:rowId xmlns:a16="http://schemas.microsoft.com/office/drawing/2014/main" val="1462010761"/>
                  </a:ext>
                </a:extLst>
              </a:tr>
              <a:tr h="370840">
                <a:tc>
                  <a:txBody>
                    <a:bodyPr/>
                    <a:lstStyle/>
                    <a:p>
                      <a:pPr algn="r">
                        <a:buNone/>
                      </a:pPr>
                      <a:r>
                        <a:rPr lang="de-DE"/>
                        <a:t>Test 10</a:t>
                      </a:r>
                    </a:p>
                  </a:txBody>
                  <a:tcPr anchor="ctr"/>
                </a:tc>
                <a:tc>
                  <a:txBody>
                    <a:bodyPr/>
                    <a:lstStyle/>
                    <a:p>
                      <a:pPr algn="r">
                        <a:buNone/>
                      </a:pPr>
                      <a:r>
                        <a:rPr lang="de-DE"/>
                        <a:t>1</a:t>
                      </a:r>
                    </a:p>
                  </a:txBody>
                  <a:tcPr anchor="ctr"/>
                </a:tc>
                <a:tc>
                  <a:txBody>
                    <a:bodyPr/>
                    <a:lstStyle/>
                    <a:p>
                      <a:pPr algn="r">
                        <a:buNone/>
                      </a:pPr>
                      <a:r>
                        <a:rPr lang="de-DE"/>
                        <a:t>82,90 bpm</a:t>
                      </a:r>
                    </a:p>
                  </a:txBody>
                  <a:tcPr anchor="ctr"/>
                </a:tc>
                <a:tc>
                  <a:txBody>
                    <a:bodyPr/>
                    <a:lstStyle/>
                    <a:p>
                      <a:pPr algn="r">
                        <a:buNone/>
                      </a:pPr>
                      <a:r>
                        <a:rPr lang="de-DE"/>
                        <a:t>82,9 bpm</a:t>
                      </a:r>
                    </a:p>
                  </a:txBody>
                  <a:tcPr anchor="ctr"/>
                </a:tc>
                <a:tc>
                  <a:txBody>
                    <a:bodyPr/>
                    <a:lstStyle/>
                    <a:p>
                      <a:pPr algn="r">
                        <a:buNone/>
                      </a:pPr>
                      <a:r>
                        <a:rPr lang="de-DE"/>
                        <a:t>19,9 /min</a:t>
                      </a:r>
                    </a:p>
                  </a:txBody>
                  <a:tcPr anchor="ctr"/>
                </a:tc>
                <a:extLst>
                  <a:ext uri="{0D108BD9-81ED-4DB2-BD59-A6C34878D82A}">
                    <a16:rowId xmlns:a16="http://schemas.microsoft.com/office/drawing/2014/main" val="3158880136"/>
                  </a:ext>
                </a:extLst>
              </a:tr>
              <a:tr h="370840">
                <a:tc>
                  <a:txBody>
                    <a:bodyPr/>
                    <a:lstStyle/>
                    <a:p>
                      <a:pPr algn="r">
                        <a:buNone/>
                      </a:pPr>
                      <a:r>
                        <a:rPr lang="de-DE"/>
                        <a:t>Test 12</a:t>
                      </a:r>
                    </a:p>
                  </a:txBody>
                  <a:tcPr anchor="ctr"/>
                </a:tc>
                <a:tc>
                  <a:txBody>
                    <a:bodyPr/>
                    <a:lstStyle/>
                    <a:p>
                      <a:pPr algn="r">
                        <a:buNone/>
                      </a:pPr>
                      <a:r>
                        <a:rPr lang="de-DE"/>
                        <a:t>1</a:t>
                      </a:r>
                    </a:p>
                  </a:txBody>
                  <a:tcPr anchor="ctr"/>
                </a:tc>
                <a:tc>
                  <a:txBody>
                    <a:bodyPr/>
                    <a:lstStyle/>
                    <a:p>
                      <a:pPr algn="r">
                        <a:buNone/>
                      </a:pPr>
                      <a:r>
                        <a:rPr lang="de-DE"/>
                        <a:t>79,14 bpm</a:t>
                      </a:r>
                    </a:p>
                  </a:txBody>
                  <a:tcPr anchor="ctr"/>
                </a:tc>
                <a:tc>
                  <a:txBody>
                    <a:bodyPr/>
                    <a:lstStyle/>
                    <a:p>
                      <a:pPr algn="r">
                        <a:buNone/>
                      </a:pPr>
                      <a:r>
                        <a:rPr lang="de-DE"/>
                        <a:t>77,5 bpm</a:t>
                      </a:r>
                    </a:p>
                  </a:txBody>
                  <a:tcPr anchor="ctr"/>
                </a:tc>
                <a:tc>
                  <a:txBody>
                    <a:bodyPr/>
                    <a:lstStyle/>
                    <a:p>
                      <a:pPr algn="r">
                        <a:buNone/>
                      </a:pPr>
                      <a:r>
                        <a:rPr lang="de-DE" dirty="0"/>
                        <a:t>19,3 /min</a:t>
                      </a:r>
                    </a:p>
                  </a:txBody>
                  <a:tcPr anchor="ctr"/>
                </a:tc>
                <a:extLst>
                  <a:ext uri="{0D108BD9-81ED-4DB2-BD59-A6C34878D82A}">
                    <a16:rowId xmlns:a16="http://schemas.microsoft.com/office/drawing/2014/main" val="1530867774"/>
                  </a:ext>
                </a:extLst>
              </a:tr>
            </a:tbl>
          </a:graphicData>
        </a:graphic>
      </p:graphicFrame>
    </p:spTree>
    <p:extLst>
      <p:ext uri="{BB962C8B-B14F-4D97-AF65-F5344CB8AC3E}">
        <p14:creationId xmlns:p14="http://schemas.microsoft.com/office/powerpoint/2010/main" val="1272886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F3D1F1-A91C-C708-9172-7A5D9ECA66F2}"/>
              </a:ext>
            </a:extLst>
          </p:cNvPr>
          <p:cNvSpPr>
            <a:spLocks noGrp="1"/>
          </p:cNvSpPr>
          <p:nvPr>
            <p:ph type="title"/>
          </p:nvPr>
        </p:nvSpPr>
        <p:spPr/>
        <p:txBody>
          <a:bodyPr/>
          <a:lstStyle/>
          <a:p>
            <a:r>
              <a:rPr lang="de-DE" dirty="0"/>
              <a:t>Ausgabe, Grenzen und Fazit</a:t>
            </a:r>
          </a:p>
        </p:txBody>
      </p:sp>
      <p:sp>
        <p:nvSpPr>
          <p:cNvPr id="3" name="Inhaltsplatzhalter 2">
            <a:extLst>
              <a:ext uri="{FF2B5EF4-FFF2-40B4-BE49-F238E27FC236}">
                <a16:creationId xmlns:a16="http://schemas.microsoft.com/office/drawing/2014/main" id="{3D21ABF4-CDFC-FF86-5919-825F840D16E0}"/>
              </a:ext>
            </a:extLst>
          </p:cNvPr>
          <p:cNvSpPr>
            <a:spLocks noGrp="1"/>
          </p:cNvSpPr>
          <p:nvPr>
            <p:ph idx="1"/>
          </p:nvPr>
        </p:nvSpPr>
        <p:spPr/>
        <p:txBody>
          <a:bodyPr>
            <a:normAutofit lnSpcReduction="10000"/>
          </a:bodyPr>
          <a:lstStyle/>
          <a:p>
            <a:pPr marL="0" indent="0">
              <a:buNone/>
            </a:pPr>
            <a:r>
              <a:rPr lang="de-DE" dirty="0"/>
              <a:t>Finales Ergebnis der Pipeline</a:t>
            </a:r>
          </a:p>
          <a:p>
            <a:r>
              <a:rPr lang="de-DE" dirty="0"/>
              <a:t>Die final verarbeiteten Signale und geschätzten Vitalzeichen werden in einem Dashboard angezeigt</a:t>
            </a:r>
          </a:p>
          <a:p>
            <a:r>
              <a:rPr lang="de-DE" dirty="0"/>
              <a:t>Das Projekt demonstriert eine vollständige Python-Pipeline von Radar-Rohdaten zu Vitalzeichen-Schätzungen</a:t>
            </a:r>
          </a:p>
          <a:p>
            <a:r>
              <a:rPr lang="de-DE" dirty="0"/>
              <a:t>Atemerkennung ist robuster als Herzfrequenzerkennung</a:t>
            </a:r>
          </a:p>
          <a:p>
            <a:r>
              <a:rPr lang="de-DE" dirty="0"/>
              <a:t>Hauptgrenzen: Bewegungsartefakte, Hintergrundreflexionen und schwaches Herzschlagsignal</a:t>
            </a:r>
          </a:p>
          <a:p>
            <a:r>
              <a:rPr lang="de-DE" dirty="0"/>
              <a:t>Zukünftige Arbeit: stärkere Referenzvalidierung, verbessertes Personentracking und bessere </a:t>
            </a:r>
            <a:r>
              <a:rPr lang="de-DE" dirty="0" err="1"/>
              <a:t>Artefaktunterdrückung</a:t>
            </a:r>
            <a:endParaRPr lang="de-DE" dirty="0"/>
          </a:p>
        </p:txBody>
      </p:sp>
    </p:spTree>
    <p:extLst>
      <p:ext uri="{BB962C8B-B14F-4D97-AF65-F5344CB8AC3E}">
        <p14:creationId xmlns:p14="http://schemas.microsoft.com/office/powerpoint/2010/main" val="676345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78D4B8-8DE2-BFAD-0B0D-A7A82082288D}"/>
              </a:ext>
            </a:extLst>
          </p:cNvPr>
          <p:cNvSpPr>
            <a:spLocks noGrp="1"/>
          </p:cNvSpPr>
          <p:nvPr>
            <p:ph type="title"/>
          </p:nvPr>
        </p:nvSpPr>
        <p:spPr/>
        <p:txBody>
          <a:bodyPr/>
          <a:lstStyle/>
          <a:p>
            <a:r>
              <a:rPr lang="de-DE" dirty="0"/>
              <a:t>Backup 4: Bekannte Grenzen und zukünftige Verbesserungen</a:t>
            </a:r>
          </a:p>
        </p:txBody>
      </p:sp>
      <p:sp>
        <p:nvSpPr>
          <p:cNvPr id="3" name="Inhaltsplatzhalter 2">
            <a:extLst>
              <a:ext uri="{FF2B5EF4-FFF2-40B4-BE49-F238E27FC236}">
                <a16:creationId xmlns:a16="http://schemas.microsoft.com/office/drawing/2014/main" id="{6BEDDC4F-AD66-C11A-E80B-A10942CBF6BA}"/>
              </a:ext>
            </a:extLst>
          </p:cNvPr>
          <p:cNvSpPr>
            <a:spLocks noGrp="1"/>
          </p:cNvSpPr>
          <p:nvPr>
            <p:ph idx="1"/>
          </p:nvPr>
        </p:nvSpPr>
        <p:spPr/>
        <p:txBody>
          <a:bodyPr/>
          <a:lstStyle/>
          <a:p>
            <a:pPr marL="0" indent="0">
              <a:buNone/>
            </a:pPr>
            <a:r>
              <a:rPr lang="de-DE" dirty="0"/>
              <a:t>Was das System als nächstes verbessern würde?</a:t>
            </a:r>
          </a:p>
          <a:p>
            <a:r>
              <a:rPr lang="de-DE" dirty="0"/>
              <a:t>Robusteres Personentracking bei Bewegung</a:t>
            </a:r>
          </a:p>
          <a:p>
            <a:r>
              <a:rPr lang="de-DE" dirty="0"/>
              <a:t>Verbesserte Unterdrückung von Körperbewegungsartefakten</a:t>
            </a:r>
          </a:p>
          <a:p>
            <a:r>
              <a:rPr lang="de-DE" dirty="0"/>
              <a:t>Bessere Trennung von Atemharmonischen und Herzschlag</a:t>
            </a:r>
          </a:p>
          <a:p>
            <a:r>
              <a:rPr lang="de-DE" dirty="0"/>
              <a:t>Größerer Validierungsdatensatz mit Referenzsensoren</a:t>
            </a:r>
          </a:p>
          <a:p>
            <a:r>
              <a:rPr lang="de-DE" dirty="0"/>
              <a:t>Systematischere Tests über verschiedene Entfernungen, Winkel und Körperpositionen</a:t>
            </a:r>
          </a:p>
        </p:txBody>
      </p:sp>
    </p:spTree>
    <p:extLst>
      <p:ext uri="{BB962C8B-B14F-4D97-AF65-F5344CB8AC3E}">
        <p14:creationId xmlns:p14="http://schemas.microsoft.com/office/powerpoint/2010/main" val="24070254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1413</Words>
  <Application>Microsoft Office PowerPoint</Application>
  <PresentationFormat>Breitbild</PresentationFormat>
  <Paragraphs>250</Paragraphs>
  <Slides>19</Slides>
  <Notes>1</Notes>
  <HiddenSlides>4</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19</vt:i4>
      </vt:variant>
    </vt:vector>
  </HeadingPairs>
  <TitlesOfParts>
    <vt:vector size="24" baseType="lpstr">
      <vt:lpstr>Aptos</vt:lpstr>
      <vt:lpstr>Aptos Display</vt:lpstr>
      <vt:lpstr>Arial</vt:lpstr>
      <vt:lpstr>Courier New</vt:lpstr>
      <vt:lpstr>Office</vt:lpstr>
      <vt:lpstr>Kontaklose Vitalzeichenmessung mit mmWave-Radar</vt:lpstr>
      <vt:lpstr>Motivation</vt:lpstr>
      <vt:lpstr>Radarprinzip für Vitalzeichenmessung</vt:lpstr>
      <vt:lpstr>Backup 1: Radarkonfiguration und Datenerfassung</vt:lpstr>
      <vt:lpstr>Algorithmus-Gesamtübersicht</vt:lpstr>
      <vt:lpstr>Rohdatenrekonstruktion</vt:lpstr>
      <vt:lpstr>Rohdatenrekonstruktion</vt:lpstr>
      <vt:lpstr>Reflexionen nach Entfernung trennen</vt:lpstr>
      <vt:lpstr>Die Reflexion mit Brustbewegung finden</vt:lpstr>
      <vt:lpstr>Die Reflexion mit Brustbewegung finden</vt:lpstr>
      <vt:lpstr>Radarphase in ein Bewegungssignal umwandeln</vt:lpstr>
      <vt:lpstr>Atmung, Herzschlag und Rauschen trennen</vt:lpstr>
      <vt:lpstr>Backup 2: Filterfrequenzbänder und Parameter</vt:lpstr>
      <vt:lpstr>Gefilterte Signale in Vitalzeichen umwandeln</vt:lpstr>
      <vt:lpstr>Validierung und Genauigkeitsergebnisse</vt:lpstr>
      <vt:lpstr>Backup 3: Validierungsmethode – was genau wurde verwendet??</vt:lpstr>
      <vt:lpstr>Validierung und Genauigkeitsergebnisse</vt:lpstr>
      <vt:lpstr>Ausgabe, Grenzen und Fazit</vt:lpstr>
      <vt:lpstr>Backup 4: Bekannte Grenzen und zukünftige Verbesserungen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Jonas Gilles</dc:creator>
  <cp:lastModifiedBy>Jonas Gilles</cp:lastModifiedBy>
  <cp:revision>4</cp:revision>
  <dcterms:created xsi:type="dcterms:W3CDTF">2026-07-05T19:00:21Z</dcterms:created>
  <dcterms:modified xsi:type="dcterms:W3CDTF">2026-07-05T20:29:25Z</dcterms:modified>
</cp:coreProperties>
</file>